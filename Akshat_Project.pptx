
<file path=[Content_Types].xml><?xml version="1.0" encoding="utf-8"?>
<Types xmlns="http://schemas.openxmlformats.org/package/2006/content-types">
  <Default Extension="jfif"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9"/>
  </p:notesMasterIdLst>
  <p:handoutMasterIdLst>
    <p:handoutMasterId r:id="rId20"/>
  </p:handoutMasterIdLst>
  <p:sldIdLst>
    <p:sldId id="338" r:id="rId5"/>
    <p:sldId id="327" r:id="rId6"/>
    <p:sldId id="315" r:id="rId7"/>
    <p:sldId id="329" r:id="rId8"/>
    <p:sldId id="302" r:id="rId9"/>
    <p:sldId id="339" r:id="rId10"/>
    <p:sldId id="340" r:id="rId11"/>
    <p:sldId id="344" r:id="rId12"/>
    <p:sldId id="345" r:id="rId13"/>
    <p:sldId id="346" r:id="rId14"/>
    <p:sldId id="341" r:id="rId15"/>
    <p:sldId id="342" r:id="rId16"/>
    <p:sldId id="343" r:id="rId17"/>
    <p:sldId id="304"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419AE38-882F-1515-E21D-2DA2765CE3A3}" v="2" dt="2026-09-02T10:33:37.143"/>
    <p1510:client id="{BA573E70-4CE7-E3DA-403D-1D1B358A6CED}" v="45" dt="2026-09-02T10:11:53.372"/>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85" autoAdjust="0"/>
    <p:restoredTop sz="95033" autoAdjust="0"/>
  </p:normalViewPr>
  <p:slideViewPr>
    <p:cSldViewPr snapToGrid="0">
      <p:cViewPr>
        <p:scale>
          <a:sx n="89" d="100"/>
          <a:sy n="89" d="100"/>
        </p:scale>
        <p:origin x="370" y="-163"/>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9/10/2026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9/10/2026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9/10/2026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9/10/2026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9/10/2026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9/10/2026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jfif"/><Relationship Id="rId1" Type="http://schemas.openxmlformats.org/officeDocument/2006/relationships/slideLayout" Target="../slideLayouts/slideLayout19.xml"/><Relationship Id="rId5" Type="http://schemas.openxmlformats.org/officeDocument/2006/relationships/image" Target="../media/image14.png"/><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6.png"/></Relationships>
</file>

<file path=ppt/slides/_rels/slide1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3" Type="http://schemas.openxmlformats.org/officeDocument/2006/relationships/hyperlink" Target="https://github.com/Parzzival23/Seasonal_Agricultural_Performance" TargetMode="External"/><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362309" y="3583914"/>
            <a:ext cx="6961517" cy="861497"/>
          </a:xfrm>
        </p:spPr>
        <p:txBody>
          <a:bodyPr vert="horz" lIns="91440" tIns="45720" rIns="91440" bIns="45720" rtlCol="0" anchor="t">
            <a:normAutofit/>
          </a:bodyPr>
          <a:lstStyle/>
          <a:p>
            <a:pPr algn="r">
              <a:defRPr sz="2100" b="0"/>
            </a:pPr>
            <a:r>
              <a:rPr dirty="0"/>
              <a:t>[Student Name</a:t>
            </a:r>
            <a:r>
              <a:rPr lang="en-IN" dirty="0"/>
              <a:t>-Akshat Gupta</a:t>
            </a:r>
            <a:r>
              <a:rPr dirty="0"/>
              <a:t>]</a:t>
            </a:r>
            <a:br>
              <a:rPr dirty="0"/>
            </a:br>
            <a:r>
              <a:rPr dirty="0"/>
              <a:t>[College Name</a:t>
            </a:r>
            <a:r>
              <a:rPr lang="en-IN" dirty="0"/>
              <a:t>-JSS Academy of Technical Education</a:t>
            </a:r>
            <a:r>
              <a:rPr dirty="0"/>
              <a:t>]</a:t>
            </a:r>
            <a:endParaRPr lang="en-IN" b="0" dirty="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678364" y="1557405"/>
            <a:ext cx="8758934" cy="1315191"/>
          </a:xfrm>
        </p:spPr>
        <p:txBody>
          <a:bodyPr>
            <a:noAutofit/>
          </a:bodyPr>
          <a:lstStyle/>
          <a:p>
            <a:pPr>
              <a:defRPr sz="2200" b="1"/>
            </a:pPr>
            <a:r>
              <a:rPr sz="3200" dirty="0"/>
              <a:t>Project Title -</a:t>
            </a:r>
            <a:br>
              <a:rPr sz="3200" dirty="0"/>
            </a:br>
            <a:r>
              <a:rPr sz="3200" dirty="0"/>
              <a:t>Seasonal Agriculture Performance Analysis</a:t>
            </a:r>
            <a:endParaRPr lang="en-IN" sz="3200" dirty="0"/>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957406" y="4576469"/>
            <a:ext cx="6814994" cy="400110"/>
          </a:xfrm>
          <a:prstGeom prst="rect">
            <a:avLst/>
          </a:prstGeom>
          <a:noFill/>
        </p:spPr>
        <p:txBody>
          <a:bodyPr wrap="square" rtlCol="0">
            <a:spAutoFit/>
          </a:bodyPr>
          <a:lstStyle/>
          <a:p>
            <a:pPr>
              <a:defRPr sz="1500" b="1"/>
            </a:pPr>
            <a:r>
              <a:rPr sz="2000" dirty="0"/>
              <a:t>AICTE STU ID : </a:t>
            </a:r>
            <a:r>
              <a:rPr dirty="0"/>
              <a:t>[</a:t>
            </a:r>
            <a:r>
              <a:rPr lang="en-IN" sz="2000" dirty="0"/>
              <a:t>STU6a672d23d05381785146659</a:t>
            </a:r>
            <a:r>
              <a:rPr dirty="0"/>
              <a:t>]</a:t>
            </a:r>
          </a:p>
        </p:txBody>
      </p:sp>
      <p:sp>
        <p:nvSpPr>
          <p:cNvPr id="38" name="TextBox 37"/>
          <p:cNvSpPr txBox="1"/>
          <p:nvPr/>
        </p:nvSpPr>
        <p:spPr>
          <a:xfrm>
            <a:off x="685800" y="5715000"/>
            <a:ext cx="4754880" cy="320040"/>
          </a:xfrm>
          <a:prstGeom prst="rect">
            <a:avLst/>
          </a:prstGeom>
          <a:noFill/>
        </p:spPr>
        <p:txBody>
          <a:bodyPr wrap="square" anchor="t">
            <a:spAutoFit/>
          </a:bodyPr>
          <a:lstStyle/>
          <a:p>
            <a:pPr algn="l">
              <a:defRPr sz="1100" b="0"/>
            </a:pPr>
            <a:r>
              <a:t>VOIS AICTE Batch 1 2026–2027</a:t>
            </a:r>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9514936" y="2832008"/>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
        <p:nvSpPr>
          <p:cNvPr id="17" name="TextBox 16"/>
          <p:cNvSpPr txBox="1"/>
          <p:nvPr/>
        </p:nvSpPr>
        <p:spPr>
          <a:xfrm>
            <a:off x="594359" y="411480"/>
            <a:ext cx="9308765" cy="584775"/>
          </a:xfrm>
          <a:prstGeom prst="rect">
            <a:avLst/>
          </a:prstGeom>
          <a:noFill/>
        </p:spPr>
        <p:txBody>
          <a:bodyPr wrap="square" anchor="t">
            <a:spAutoFit/>
          </a:bodyPr>
          <a:lstStyle/>
          <a:p>
            <a:pPr algn="ctr">
              <a:defRPr sz="2400" b="1">
                <a:solidFill>
                  <a:srgbClr val="141414"/>
                </a:solidFill>
              </a:defRPr>
            </a:pPr>
            <a:r>
              <a:rPr sz="3200">
                <a:latin typeface="Arial" panose="020B0604020202020204" pitchFamily="34" charset="0"/>
                <a:cs typeface="Arial" panose="020B0604020202020204" pitchFamily="34" charset="0"/>
              </a:rPr>
              <a:t>PROBLEM STATEMENT</a:t>
            </a:r>
          </a:p>
        </p:txBody>
      </p:sp>
      <p:sp>
        <p:nvSpPr>
          <p:cNvPr id="18" name="TextBox 17"/>
          <p:cNvSpPr txBox="1"/>
          <p:nvPr/>
        </p:nvSpPr>
        <p:spPr>
          <a:xfrm>
            <a:off x="822960" y="1325880"/>
            <a:ext cx="8691976" cy="4770537"/>
          </a:xfrm>
          <a:prstGeom prst="rect">
            <a:avLst/>
          </a:prstGeom>
          <a:noFill/>
        </p:spPr>
        <p:txBody>
          <a:bodyPr wrap="square" anchor="t">
            <a:spAutoFit/>
          </a:bodyPr>
          <a:lstStyle/>
          <a:p>
            <a:r>
              <a:rPr lang="en-IN" dirty="0">
                <a:latin typeface="Arial" panose="020B0604020202020204" pitchFamily="34" charset="0"/>
                <a:cs typeface="Arial" panose="020B0604020202020204" pitchFamily="34" charset="0"/>
              </a:rPr>
              <a:t>Agricultural performance is shaped by the interaction of seasonal environmental conditions, farming practices, resource availability, and market conditions. Factors like temperature, rainfall, irrigation, and input access vary across seasons and directly affect crop yield and productivity.</a:t>
            </a:r>
          </a:p>
          <a:p>
            <a:endParaRPr lang="en-IN" dirty="0">
              <a:latin typeface="Arial" panose="020B0604020202020204" pitchFamily="34" charset="0"/>
              <a:cs typeface="Arial" panose="020B0604020202020204" pitchFamily="34" charset="0"/>
            </a:endParaRPr>
          </a:p>
          <a:p>
            <a:r>
              <a:rPr lang="en-IN" dirty="0">
                <a:latin typeface="Arial" panose="020B0604020202020204" pitchFamily="34" charset="0"/>
                <a:cs typeface="Arial" panose="020B0604020202020204" pitchFamily="34" charset="0"/>
              </a:rPr>
              <a:t>However, raw agricultural data is often fragmented and inconsistent, making it difficult to clearly see how and why performance changes across seasons. Important patterns and relationships remain hidden without structured analysis.</a:t>
            </a:r>
          </a:p>
          <a:p>
            <a:endParaRPr lang="en-IN" dirty="0">
              <a:latin typeface="Arial" panose="020B0604020202020204" pitchFamily="34" charset="0"/>
              <a:cs typeface="Arial" panose="020B0604020202020204" pitchFamily="34" charset="0"/>
            </a:endParaRPr>
          </a:p>
          <a:p>
            <a:r>
              <a:rPr lang="en-IN" dirty="0">
                <a:latin typeface="Arial" panose="020B0604020202020204" pitchFamily="34" charset="0"/>
                <a:cs typeface="Arial" panose="020B0604020202020204" pitchFamily="34" charset="0"/>
              </a:rPr>
              <a:t>This project </a:t>
            </a:r>
            <a:r>
              <a:rPr lang="en-IN" dirty="0" err="1">
                <a:latin typeface="Arial" panose="020B0604020202020204" pitchFamily="34" charset="0"/>
                <a:cs typeface="Arial" panose="020B0604020202020204" pitchFamily="34" charset="0"/>
              </a:rPr>
              <a:t>analyzes</a:t>
            </a:r>
            <a:r>
              <a:rPr lang="en-IN" dirty="0">
                <a:latin typeface="Arial" panose="020B0604020202020204" pitchFamily="34" charset="0"/>
                <a:cs typeface="Arial" panose="020B0604020202020204" pitchFamily="34" charset="0"/>
              </a:rPr>
              <a:t> seasonal agricultural data to uncover meaningful patterns, trends, relationships, and variations in performance, and to identify the key factors driving seasonal differences.</a:t>
            </a:r>
          </a:p>
          <a:p>
            <a:endParaRPr lang="en-IN" dirty="0">
              <a:latin typeface="Arial" panose="020B0604020202020204" pitchFamily="34" charset="0"/>
              <a:cs typeface="Arial" panose="020B0604020202020204" pitchFamily="34" charset="0"/>
            </a:endParaRPr>
          </a:p>
          <a:p>
            <a:r>
              <a:rPr lang="en-IN" b="1" dirty="0">
                <a:latin typeface="Arial" panose="020B0604020202020204" pitchFamily="34" charset="0"/>
                <a:cs typeface="Arial" panose="020B0604020202020204" pitchFamily="34" charset="0"/>
              </a:rPr>
              <a:t>Key Question:</a:t>
            </a:r>
            <a:br>
              <a:rPr lang="en-IN" dirty="0">
                <a:latin typeface="Arial" panose="020B0604020202020204" pitchFamily="34" charset="0"/>
                <a:cs typeface="Arial" panose="020B0604020202020204" pitchFamily="34" charset="0"/>
              </a:rPr>
            </a:br>
            <a:r>
              <a:rPr lang="en-IN" dirty="0">
                <a:latin typeface="Arial" panose="020B0604020202020204" pitchFamily="34" charset="0"/>
                <a:cs typeface="Arial" panose="020B0604020202020204" pitchFamily="34" charset="0"/>
              </a:rPr>
              <a:t>How does agricultural performance vary across seasons, and what factors are associated with these differences?</a:t>
            </a:r>
          </a:p>
          <a:p>
            <a:pPr algn="l">
              <a:defRPr sz="1600" b="0">
                <a:solidFill>
                  <a:srgbClr val="141414"/>
                </a:solidFill>
              </a:defRPr>
            </a:pPr>
            <a:endParaRPr dirty="0"/>
          </a:p>
        </p:txBody>
      </p:sp>
    </p:spTree>
    <p:extLst>
      <p:ext uri="{BB962C8B-B14F-4D97-AF65-F5344CB8AC3E}">
        <p14:creationId xmlns:p14="http://schemas.microsoft.com/office/powerpoint/2010/main" val="30985484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
        <p:nvSpPr>
          <p:cNvPr id="10" name="TextBox 9"/>
          <p:cNvSpPr txBox="1"/>
          <p:nvPr/>
        </p:nvSpPr>
        <p:spPr>
          <a:xfrm>
            <a:off x="594359" y="411480"/>
            <a:ext cx="8730795" cy="646331"/>
          </a:xfrm>
          <a:prstGeom prst="rect">
            <a:avLst/>
          </a:prstGeom>
          <a:noFill/>
        </p:spPr>
        <p:txBody>
          <a:bodyPr wrap="square" anchor="t">
            <a:spAutoFit/>
          </a:bodyPr>
          <a:lstStyle/>
          <a:p>
            <a:pPr algn="ctr">
              <a:defRPr sz="2300" b="1">
                <a:solidFill>
                  <a:srgbClr val="141414"/>
                </a:solidFill>
              </a:defRPr>
            </a:pPr>
            <a:r>
              <a:rPr sz="3600" dirty="0">
                <a:latin typeface="Arial" panose="020B0604020202020204" pitchFamily="34" charset="0"/>
                <a:cs typeface="Arial" panose="020B0604020202020204" pitchFamily="34" charset="0"/>
              </a:rPr>
              <a:t>Project Description</a:t>
            </a:r>
          </a:p>
        </p:txBody>
      </p:sp>
      <p:sp>
        <p:nvSpPr>
          <p:cNvPr id="11" name="TextBox 10"/>
          <p:cNvSpPr txBox="1"/>
          <p:nvPr/>
        </p:nvSpPr>
        <p:spPr>
          <a:xfrm>
            <a:off x="675957" y="1372463"/>
            <a:ext cx="7863840" cy="4216539"/>
          </a:xfrm>
          <a:prstGeom prst="rect">
            <a:avLst/>
          </a:prstGeom>
          <a:noFill/>
        </p:spPr>
        <p:txBody>
          <a:bodyPr wrap="square" anchor="t">
            <a:spAutoFit/>
          </a:bodyPr>
          <a:lstStyle/>
          <a:p>
            <a:r>
              <a:rPr lang="en-IN" dirty="0">
                <a:latin typeface="Arial" panose="020B0604020202020204" pitchFamily="34" charset="0"/>
                <a:cs typeface="Arial" panose="020B0604020202020204" pitchFamily="34" charset="0"/>
              </a:rPr>
              <a:t>This project performs an end-to-end data analytics study of agricultural activities, exploring how seasons, crops, regions, environmental conditions, farming practices, resource usage, and economic outcomes together shape agricultural performance and productivity outcomes across diverse farming contexts.</a:t>
            </a:r>
          </a:p>
          <a:p>
            <a:endParaRPr lang="en-IN" dirty="0">
              <a:latin typeface="Arial" panose="020B0604020202020204" pitchFamily="34" charset="0"/>
              <a:cs typeface="Arial" panose="020B0604020202020204" pitchFamily="34" charset="0"/>
            </a:endParaRPr>
          </a:p>
          <a:p>
            <a:r>
              <a:rPr lang="en-IN" b="1" dirty="0">
                <a:latin typeface="Arial" panose="020B0604020202020204" pitchFamily="34" charset="0"/>
                <a:cs typeface="Arial" panose="020B0604020202020204" pitchFamily="34" charset="0"/>
              </a:rPr>
              <a:t>Dataset:</a:t>
            </a:r>
            <a:br>
              <a:rPr lang="en-IN" dirty="0">
                <a:latin typeface="Arial" panose="020B0604020202020204" pitchFamily="34" charset="0"/>
                <a:cs typeface="Arial" panose="020B0604020202020204" pitchFamily="34" charset="0"/>
              </a:rPr>
            </a:br>
            <a:r>
              <a:rPr lang="en-IN" dirty="0">
                <a:latin typeface="Arial" panose="020B0604020202020204" pitchFamily="34" charset="0"/>
                <a:cs typeface="Arial" panose="020B0604020202020204" pitchFamily="34" charset="0"/>
              </a:rPr>
              <a:t>4,000 farm records • 28 variables • 3 seasons • 8 states • 8 crops • 4 irrigation methods.</a:t>
            </a:r>
          </a:p>
          <a:p>
            <a:endParaRPr lang="en-IN" dirty="0">
              <a:latin typeface="Arial" panose="020B0604020202020204" pitchFamily="34" charset="0"/>
              <a:cs typeface="Arial" panose="020B0604020202020204" pitchFamily="34" charset="0"/>
            </a:endParaRPr>
          </a:p>
          <a:p>
            <a:r>
              <a:rPr lang="en-IN" b="1" dirty="0">
                <a:latin typeface="Arial" panose="020B0604020202020204" pitchFamily="34" charset="0"/>
                <a:cs typeface="Arial" panose="020B0604020202020204" pitchFamily="34" charset="0"/>
              </a:rPr>
              <a:t>Workflow:</a:t>
            </a:r>
            <a:br>
              <a:rPr lang="en-IN" dirty="0">
                <a:latin typeface="Arial" panose="020B0604020202020204" pitchFamily="34" charset="0"/>
                <a:cs typeface="Arial" panose="020B0604020202020204" pitchFamily="34" charset="0"/>
              </a:rPr>
            </a:br>
            <a:r>
              <a:rPr lang="en-IN" dirty="0">
                <a:latin typeface="Arial" panose="020B0604020202020204" pitchFamily="34" charset="0"/>
                <a:cs typeface="Arial" panose="020B0604020202020204" pitchFamily="34" charset="0"/>
              </a:rPr>
              <a:t>Dataset Exploration → Cleaning → Feature Engineering → EDA → Seasonal Analysis → Resource &amp; Economic Analysis → Statistical Analysis → Insights &amp; Recommendations</a:t>
            </a:r>
          </a:p>
          <a:p>
            <a:pPr algn="l">
              <a:defRPr sz="1600" b="0">
                <a:solidFill>
                  <a:srgbClr val="141414"/>
                </a:solidFill>
              </a:defRPr>
            </a:pPr>
            <a:endParaRPr dirty="0"/>
          </a:p>
        </p:txBody>
      </p:sp>
    </p:spTree>
    <p:extLst>
      <p:ext uri="{BB962C8B-B14F-4D97-AF65-F5344CB8AC3E}">
        <p14:creationId xmlns:p14="http://schemas.microsoft.com/office/powerpoint/2010/main" val="36967703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
        <p:nvSpPr>
          <p:cNvPr id="17" name="TextBox 16"/>
          <p:cNvSpPr txBox="1"/>
          <p:nvPr/>
        </p:nvSpPr>
        <p:spPr>
          <a:xfrm>
            <a:off x="594360" y="411480"/>
            <a:ext cx="6400800" cy="502920"/>
          </a:xfrm>
          <a:prstGeom prst="rect">
            <a:avLst/>
          </a:prstGeom>
          <a:noFill/>
        </p:spPr>
        <p:txBody>
          <a:bodyPr wrap="square" anchor="t">
            <a:spAutoFit/>
          </a:bodyPr>
          <a:lstStyle/>
          <a:p>
            <a:pPr algn="l">
              <a:defRPr sz="2300" b="1">
                <a:solidFill>
                  <a:srgbClr val="141414"/>
                </a:solidFill>
              </a:defRPr>
            </a:pPr>
            <a:r>
              <a:t>WHO ARE THE END USERS?</a:t>
            </a:r>
          </a:p>
        </p:txBody>
      </p:sp>
      <p:sp>
        <p:nvSpPr>
          <p:cNvPr id="18" name="Rectangle 17"/>
          <p:cNvSpPr/>
          <p:nvPr/>
        </p:nvSpPr>
        <p:spPr>
          <a:xfrm>
            <a:off x="731520" y="1417320"/>
            <a:ext cx="2788920" cy="987552"/>
          </a:xfrm>
          <a:prstGeom prst="rect">
            <a:avLst/>
          </a:prstGeom>
          <a:solidFill>
            <a:srgbClr val="F5F8F9"/>
          </a:solidFill>
          <a:ln>
            <a:solidFill>
              <a:srgbClr val="BEC8CD"/>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600" b="1">
                <a:solidFill>
                  <a:srgbClr val="191919"/>
                </a:solidFill>
              </a:defRPr>
            </a:pPr>
            <a:r>
              <a:t>Farmers</a:t>
            </a:r>
          </a:p>
          <a:p>
            <a:pPr algn="ctr">
              <a:defRPr sz="1000">
                <a:solidFill>
                  <a:srgbClr val="464646"/>
                </a:solidFill>
              </a:defRPr>
            </a:pPr>
            <a:r>
              <a:t>Seasonal crop, irrigation and resource planning</a:t>
            </a:r>
          </a:p>
        </p:txBody>
      </p:sp>
      <p:sp>
        <p:nvSpPr>
          <p:cNvPr id="19" name="Rectangle 18"/>
          <p:cNvSpPr/>
          <p:nvPr/>
        </p:nvSpPr>
        <p:spPr>
          <a:xfrm>
            <a:off x="3977639" y="1417320"/>
            <a:ext cx="2788920" cy="987552"/>
          </a:xfrm>
          <a:prstGeom prst="rect">
            <a:avLst/>
          </a:prstGeom>
          <a:solidFill>
            <a:srgbClr val="F5F8F9"/>
          </a:solidFill>
          <a:ln>
            <a:solidFill>
              <a:srgbClr val="BEC8CD"/>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600" b="1">
                <a:solidFill>
                  <a:srgbClr val="191919"/>
                </a:solidFill>
              </a:defRPr>
            </a:pPr>
            <a:r>
              <a:t>Agricultural Planners</a:t>
            </a:r>
          </a:p>
          <a:p>
            <a:pPr algn="ctr">
              <a:defRPr sz="1000">
                <a:solidFill>
                  <a:srgbClr val="464646"/>
                </a:solidFill>
              </a:defRPr>
            </a:pPr>
            <a:r>
              <a:t>Regional and seasonal comparison</a:t>
            </a:r>
          </a:p>
        </p:txBody>
      </p:sp>
      <p:sp>
        <p:nvSpPr>
          <p:cNvPr id="20" name="Rectangle 19"/>
          <p:cNvSpPr/>
          <p:nvPr/>
        </p:nvSpPr>
        <p:spPr>
          <a:xfrm>
            <a:off x="731520" y="2743200"/>
            <a:ext cx="2788920" cy="987552"/>
          </a:xfrm>
          <a:prstGeom prst="rect">
            <a:avLst/>
          </a:prstGeom>
          <a:solidFill>
            <a:srgbClr val="F5F8F9"/>
          </a:solidFill>
          <a:ln>
            <a:solidFill>
              <a:srgbClr val="BEC8CD"/>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600" b="1">
                <a:solidFill>
                  <a:srgbClr val="191919"/>
                </a:solidFill>
              </a:defRPr>
            </a:pPr>
            <a:r>
              <a:t>Resource Managers</a:t>
            </a:r>
          </a:p>
          <a:p>
            <a:pPr algn="ctr">
              <a:defRPr sz="1000">
                <a:solidFill>
                  <a:srgbClr val="464646"/>
                </a:solidFill>
              </a:defRPr>
            </a:pPr>
            <a:r>
              <a:t>Water usage and irrigation efficiency</a:t>
            </a:r>
          </a:p>
        </p:txBody>
      </p:sp>
      <p:sp>
        <p:nvSpPr>
          <p:cNvPr id="21" name="Rectangle 20"/>
          <p:cNvSpPr/>
          <p:nvPr/>
        </p:nvSpPr>
        <p:spPr>
          <a:xfrm>
            <a:off x="3977639" y="2743200"/>
            <a:ext cx="2788920" cy="987552"/>
          </a:xfrm>
          <a:prstGeom prst="rect">
            <a:avLst/>
          </a:prstGeom>
          <a:solidFill>
            <a:srgbClr val="F5F8F9"/>
          </a:solidFill>
          <a:ln>
            <a:solidFill>
              <a:srgbClr val="BEC8CD"/>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600" b="1">
                <a:solidFill>
                  <a:srgbClr val="191919"/>
                </a:solidFill>
              </a:defRPr>
            </a:pPr>
            <a:r>
              <a:t>Researchers</a:t>
            </a:r>
          </a:p>
          <a:p>
            <a:pPr algn="ctr">
              <a:defRPr sz="1000">
                <a:solidFill>
                  <a:srgbClr val="464646"/>
                </a:solidFill>
              </a:defRPr>
            </a:pPr>
            <a:r>
              <a:t>Environmental and agricultural relationships</a:t>
            </a:r>
          </a:p>
        </p:txBody>
      </p:sp>
      <p:sp>
        <p:nvSpPr>
          <p:cNvPr id="22" name="Rectangle 21"/>
          <p:cNvSpPr/>
          <p:nvPr/>
        </p:nvSpPr>
        <p:spPr>
          <a:xfrm>
            <a:off x="2331720" y="4069080"/>
            <a:ext cx="2788920" cy="987552"/>
          </a:xfrm>
          <a:prstGeom prst="rect">
            <a:avLst/>
          </a:prstGeom>
          <a:solidFill>
            <a:srgbClr val="F5F8F9"/>
          </a:solidFill>
          <a:ln>
            <a:solidFill>
              <a:srgbClr val="BEC8CD"/>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600" b="1">
                <a:solidFill>
                  <a:srgbClr val="191919"/>
                </a:solidFill>
              </a:defRPr>
            </a:pPr>
            <a:r>
              <a:t>Policy Stakeholders</a:t>
            </a:r>
          </a:p>
          <a:p>
            <a:pPr algn="ctr">
              <a:defRPr sz="1000">
                <a:solidFill>
                  <a:srgbClr val="464646"/>
                </a:solidFill>
              </a:defRPr>
            </a:pPr>
            <a:r>
              <a:t>Evidence-based agricultural planning</a:t>
            </a:r>
          </a:p>
        </p:txBody>
      </p:sp>
    </p:spTree>
    <p:extLst>
      <p:ext uri="{BB962C8B-B14F-4D97-AF65-F5344CB8AC3E}">
        <p14:creationId xmlns:p14="http://schemas.microsoft.com/office/powerpoint/2010/main" val="480750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9458960" y="3665984"/>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390618" y="1432560"/>
            <a:ext cx="9027702" cy="5243448"/>
          </a:xfrm>
        </p:spPr>
        <p:txBody>
          <a:bodyPr>
            <a:normAutofit fontScale="70000" lnSpcReduction="20000"/>
          </a:bodyPr>
          <a:lstStyle/>
          <a:p>
            <a:r>
              <a:rPr lang="en-US" b="1" dirty="0">
                <a:latin typeface="Arial" panose="020B0604020202020204" pitchFamily="34" charset="0"/>
                <a:cs typeface="Arial" panose="020B0604020202020204" pitchFamily="34" charset="0"/>
              </a:rPr>
              <a:t>Google </a:t>
            </a:r>
            <a:r>
              <a:rPr lang="en-US" b="1" dirty="0" err="1">
                <a:latin typeface="Arial" panose="020B0604020202020204" pitchFamily="34" charset="0"/>
                <a:cs typeface="Arial" panose="020B0604020202020204" pitchFamily="34" charset="0"/>
              </a:rPr>
              <a:t>Colab</a:t>
            </a:r>
            <a:r>
              <a:rPr lang="en-US" dirty="0">
                <a:latin typeface="Arial" panose="020B0604020202020204" pitchFamily="34" charset="0"/>
                <a:cs typeface="Arial" panose="020B0604020202020204" pitchFamily="34" charset="0"/>
              </a:rPr>
              <a:t> – Cloud-based notebook environment used for writing, executing, and documenting the entire analysis in an interactive and shareable format.</a:t>
            </a:r>
          </a:p>
          <a:p>
            <a:r>
              <a:rPr lang="en-US" b="1" dirty="0">
                <a:latin typeface="Arial" panose="020B0604020202020204" pitchFamily="34" charset="0"/>
                <a:cs typeface="Arial" panose="020B0604020202020204" pitchFamily="34" charset="0"/>
              </a:rPr>
              <a:t>Python</a:t>
            </a:r>
            <a:r>
              <a:rPr lang="en-US" dirty="0">
                <a:latin typeface="Arial" panose="020B0604020202020204" pitchFamily="34" charset="0"/>
                <a:cs typeface="Arial" panose="020B0604020202020204" pitchFamily="34" charset="0"/>
              </a:rPr>
              <a:t> – Primary programming language used to implement the full analytical workflow, from data processing to statistical evaluation</a:t>
            </a:r>
          </a:p>
          <a:p>
            <a:r>
              <a:rPr lang="en-US" b="1" dirty="0">
                <a:latin typeface="Arial" panose="020B0604020202020204" pitchFamily="34" charset="0"/>
                <a:cs typeface="Arial" panose="020B0604020202020204" pitchFamily="34" charset="0"/>
              </a:rPr>
              <a:t>Pandas</a:t>
            </a:r>
            <a:r>
              <a:rPr lang="en-US" dirty="0">
                <a:latin typeface="Arial" panose="020B0604020202020204" pitchFamily="34" charset="0"/>
                <a:cs typeface="Arial" panose="020B0604020202020204" pitchFamily="34" charset="0"/>
              </a:rPr>
              <a:t> – Core library for data loading, cleaning, transformation, and aggregation, enabling efficient handling of large, structured datasets</a:t>
            </a:r>
          </a:p>
          <a:p>
            <a:r>
              <a:rPr lang="en-US" b="1" dirty="0">
                <a:latin typeface="Arial" panose="020B0604020202020204" pitchFamily="34" charset="0"/>
                <a:cs typeface="Arial" panose="020B0604020202020204" pitchFamily="34" charset="0"/>
              </a:rPr>
              <a:t>NumPy</a:t>
            </a:r>
            <a:r>
              <a:rPr lang="en-US" dirty="0">
                <a:latin typeface="Arial" panose="020B0604020202020204" pitchFamily="34" charset="0"/>
                <a:cs typeface="Arial" panose="020B0604020202020204" pitchFamily="34" charset="0"/>
              </a:rPr>
              <a:t> – Used for numerical operations, array handling, and mathematical computations underlying the analysis</a:t>
            </a:r>
          </a:p>
          <a:p>
            <a:r>
              <a:rPr lang="en-US" b="1" dirty="0">
                <a:latin typeface="Arial" panose="020B0604020202020204" pitchFamily="34" charset="0"/>
                <a:cs typeface="Arial" panose="020B0604020202020204" pitchFamily="34" charset="0"/>
              </a:rPr>
              <a:t>Matplotlib</a:t>
            </a:r>
            <a:r>
              <a:rPr lang="en-US" dirty="0">
                <a:latin typeface="Arial" panose="020B0604020202020204" pitchFamily="34" charset="0"/>
                <a:cs typeface="Arial" panose="020B0604020202020204" pitchFamily="34" charset="0"/>
              </a:rPr>
              <a:t> – Foundational library for creating static data visualizations to explore trends and patterns</a:t>
            </a:r>
          </a:p>
          <a:p>
            <a:r>
              <a:rPr lang="en-US" b="1" dirty="0">
                <a:latin typeface="Arial" panose="020B0604020202020204" pitchFamily="34" charset="0"/>
                <a:cs typeface="Arial" panose="020B0604020202020204" pitchFamily="34" charset="0"/>
              </a:rPr>
              <a:t>Seaborn</a:t>
            </a:r>
            <a:r>
              <a:rPr lang="en-US" dirty="0">
                <a:latin typeface="Arial" panose="020B0604020202020204" pitchFamily="34" charset="0"/>
                <a:cs typeface="Arial" panose="020B0604020202020204" pitchFamily="34" charset="0"/>
              </a:rPr>
              <a:t> – Built on Matplotlib, used for advanced analytical and statistical visualizations, enabling clearer representation of relationships between variables</a:t>
            </a:r>
          </a:p>
          <a:p>
            <a:r>
              <a:rPr lang="en-US" b="1" dirty="0">
                <a:latin typeface="Arial" panose="020B0604020202020204" pitchFamily="34" charset="0"/>
                <a:cs typeface="Arial" panose="020B0604020202020204" pitchFamily="34" charset="0"/>
              </a:rPr>
              <a:t>SciPy</a:t>
            </a:r>
            <a:r>
              <a:rPr lang="en-US" dirty="0">
                <a:latin typeface="Arial" panose="020B0604020202020204" pitchFamily="34" charset="0"/>
                <a:cs typeface="Arial" panose="020B0604020202020204" pitchFamily="34" charset="0"/>
              </a:rPr>
              <a:t> – Applied for hypothesis testing and statistical analysis to validate observed patterns and relationships in the data</a:t>
            </a:r>
          </a:p>
          <a:p>
            <a:r>
              <a:rPr lang="en-US" b="1" dirty="0">
                <a:latin typeface="Arial" panose="020B0604020202020204" pitchFamily="34" charset="0"/>
                <a:cs typeface="Arial" panose="020B0604020202020204" pitchFamily="34" charset="0"/>
              </a:rPr>
              <a:t>CSV</a:t>
            </a:r>
            <a:r>
              <a:rPr lang="en-US" dirty="0">
                <a:latin typeface="Arial" panose="020B0604020202020204" pitchFamily="34" charset="0"/>
                <a:cs typeface="Arial" panose="020B0604020202020204" pitchFamily="34" charset="0"/>
              </a:rPr>
              <a:t> – Source format of the agricultural dataset, used for structured storage and easy integration with Python-based tools</a:t>
            </a:r>
          </a:p>
          <a:p>
            <a:pPr>
              <a:spcAft>
                <a:spcPts val="700"/>
              </a:spcAft>
              <a:defRPr sz="1700"/>
            </a:pPr>
            <a:endParaRPr lang="en-US" dirty="0"/>
          </a:p>
          <a:p>
            <a:pPr lvl="1">
              <a:lnSpc>
                <a:spcPct val="150000"/>
              </a:lnSpc>
            </a:pPr>
            <a:endParaRPr lang="en-IN" dirty="0"/>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8757921" cy="847817"/>
          </a:xfrm>
        </p:spPr>
        <p:txBody>
          <a:bodyPr>
            <a:normAutofit/>
          </a:bodyPr>
          <a:lstStyle/>
          <a:p>
            <a:pPr algn="ctr">
              <a:defRPr sz="2500" b="1"/>
            </a:pPr>
            <a:r>
              <a:rPr sz="3600"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xEl>
                                              <p:pRg st="1" end="1"/>
                                            </p:txEl>
                                          </p:spTgt>
                                        </p:tgtEl>
                                        <p:attrNameLst>
                                          <p:attrName>style.visibility</p:attrName>
                                        </p:attrNameLst>
                                      </p:cBhvr>
                                      <p:to>
                                        <p:strVal val="visible"/>
                                      </p:to>
                                    </p:set>
                                    <p:animEffect transition="in" filter="fade">
                                      <p:cBhvr>
                                        <p:cTn id="21" dur="1000"/>
                                        <p:tgtEl>
                                          <p:spTgt spid="7">
                                            <p:txEl>
                                              <p:pRg st="1" end="1"/>
                                            </p:txEl>
                                          </p:spTgt>
                                        </p:tgtEl>
                                      </p:cBhvr>
                                    </p:animEffect>
                                    <p:anim calcmode="lin" valueType="num">
                                      <p:cBhvr>
                                        <p:cTn id="22"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7">
                                            <p:txEl>
                                              <p:pRg st="2" end="2"/>
                                            </p:txEl>
                                          </p:spTgt>
                                        </p:tgtEl>
                                        <p:attrNameLst>
                                          <p:attrName>style.visibility</p:attrName>
                                        </p:attrNameLst>
                                      </p:cBhvr>
                                      <p:to>
                                        <p:strVal val="visible"/>
                                      </p:to>
                                    </p:set>
                                    <p:animEffect transition="in" filter="fade">
                                      <p:cBhvr>
                                        <p:cTn id="28" dur="1000"/>
                                        <p:tgtEl>
                                          <p:spTgt spid="7">
                                            <p:txEl>
                                              <p:pRg st="2" end="2"/>
                                            </p:txEl>
                                          </p:spTgt>
                                        </p:tgtEl>
                                      </p:cBhvr>
                                    </p:animEffect>
                                    <p:anim calcmode="lin" valueType="num">
                                      <p:cBhvr>
                                        <p:cTn id="29"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7">
                                            <p:txEl>
                                              <p:pRg st="3" end="3"/>
                                            </p:txEl>
                                          </p:spTgt>
                                        </p:tgtEl>
                                        <p:attrNameLst>
                                          <p:attrName>style.visibility</p:attrName>
                                        </p:attrNameLst>
                                      </p:cBhvr>
                                      <p:to>
                                        <p:strVal val="visible"/>
                                      </p:to>
                                    </p:set>
                                    <p:animEffect transition="in" filter="fade">
                                      <p:cBhvr>
                                        <p:cTn id="35" dur="1000"/>
                                        <p:tgtEl>
                                          <p:spTgt spid="7">
                                            <p:txEl>
                                              <p:pRg st="3" end="3"/>
                                            </p:txEl>
                                          </p:spTgt>
                                        </p:tgtEl>
                                      </p:cBhvr>
                                    </p:animEffect>
                                    <p:anim calcmode="lin" valueType="num">
                                      <p:cBhvr>
                                        <p:cTn id="36"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7">
                                            <p:txEl>
                                              <p:pRg st="4" end="4"/>
                                            </p:txEl>
                                          </p:spTgt>
                                        </p:tgtEl>
                                        <p:attrNameLst>
                                          <p:attrName>style.visibility</p:attrName>
                                        </p:attrNameLst>
                                      </p:cBhvr>
                                      <p:to>
                                        <p:strVal val="visible"/>
                                      </p:to>
                                    </p:set>
                                    <p:animEffect transition="in" filter="fade">
                                      <p:cBhvr>
                                        <p:cTn id="42" dur="1000"/>
                                        <p:tgtEl>
                                          <p:spTgt spid="7">
                                            <p:txEl>
                                              <p:pRg st="4" end="4"/>
                                            </p:txEl>
                                          </p:spTgt>
                                        </p:tgtEl>
                                      </p:cBhvr>
                                    </p:animEffect>
                                    <p:anim calcmode="lin" valueType="num">
                                      <p:cBhvr>
                                        <p:cTn id="43"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7">
                                            <p:txEl>
                                              <p:pRg st="5" end="5"/>
                                            </p:txEl>
                                          </p:spTgt>
                                        </p:tgtEl>
                                        <p:attrNameLst>
                                          <p:attrName>style.visibility</p:attrName>
                                        </p:attrNameLst>
                                      </p:cBhvr>
                                      <p:to>
                                        <p:strVal val="visible"/>
                                      </p:to>
                                    </p:set>
                                    <p:animEffect transition="in" filter="fade">
                                      <p:cBhvr>
                                        <p:cTn id="49" dur="1000"/>
                                        <p:tgtEl>
                                          <p:spTgt spid="7">
                                            <p:txEl>
                                              <p:pRg st="5" end="5"/>
                                            </p:txEl>
                                          </p:spTgt>
                                        </p:tgtEl>
                                      </p:cBhvr>
                                    </p:animEffect>
                                    <p:anim calcmode="lin" valueType="num">
                                      <p:cBhvr>
                                        <p:cTn id="50"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7">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7">
                                            <p:txEl>
                                              <p:pRg st="6" end="6"/>
                                            </p:txEl>
                                          </p:spTgt>
                                        </p:tgtEl>
                                        <p:attrNameLst>
                                          <p:attrName>style.visibility</p:attrName>
                                        </p:attrNameLst>
                                      </p:cBhvr>
                                      <p:to>
                                        <p:strVal val="visible"/>
                                      </p:to>
                                    </p:set>
                                    <p:animEffect transition="in" filter="fade">
                                      <p:cBhvr>
                                        <p:cTn id="56" dur="1000"/>
                                        <p:tgtEl>
                                          <p:spTgt spid="7">
                                            <p:txEl>
                                              <p:pRg st="6" end="6"/>
                                            </p:txEl>
                                          </p:spTgt>
                                        </p:tgtEl>
                                      </p:cBhvr>
                                    </p:animEffect>
                                    <p:anim calcmode="lin" valueType="num">
                                      <p:cBhvr>
                                        <p:cTn id="57" dur="1000" fill="hold"/>
                                        <p:tgtEl>
                                          <p:spTgt spid="7">
                                            <p:txEl>
                                              <p:pRg st="6" end="6"/>
                                            </p:txEl>
                                          </p:spTgt>
                                        </p:tgtEl>
                                        <p:attrNameLst>
                                          <p:attrName>ppt_x</p:attrName>
                                        </p:attrNameLst>
                                      </p:cBhvr>
                                      <p:tavLst>
                                        <p:tav tm="0">
                                          <p:val>
                                            <p:strVal val="#ppt_x"/>
                                          </p:val>
                                        </p:tav>
                                        <p:tav tm="100000">
                                          <p:val>
                                            <p:strVal val="#ppt_x"/>
                                          </p:val>
                                        </p:tav>
                                      </p:tavLst>
                                    </p:anim>
                                    <p:anim calcmode="lin" valueType="num">
                                      <p:cBhvr>
                                        <p:cTn id="58" dur="1000" fill="hold"/>
                                        <p:tgtEl>
                                          <p:spTgt spid="7">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7">
                                            <p:txEl>
                                              <p:pRg st="7" end="7"/>
                                            </p:txEl>
                                          </p:spTgt>
                                        </p:tgtEl>
                                        <p:attrNameLst>
                                          <p:attrName>style.visibility</p:attrName>
                                        </p:attrNameLst>
                                      </p:cBhvr>
                                      <p:to>
                                        <p:strVal val="visible"/>
                                      </p:to>
                                    </p:set>
                                    <p:animEffect transition="in" filter="fade">
                                      <p:cBhvr>
                                        <p:cTn id="63" dur="1000"/>
                                        <p:tgtEl>
                                          <p:spTgt spid="7">
                                            <p:txEl>
                                              <p:pRg st="7" end="7"/>
                                            </p:txEl>
                                          </p:spTgt>
                                        </p:tgtEl>
                                      </p:cBhvr>
                                    </p:animEffect>
                                    <p:anim calcmode="lin" valueType="num">
                                      <p:cBhvr>
                                        <p:cTn id="64" dur="1000" fill="hold"/>
                                        <p:tgtEl>
                                          <p:spTgt spid="7">
                                            <p:txEl>
                                              <p:pRg st="7" end="7"/>
                                            </p:txEl>
                                          </p:spTgt>
                                        </p:tgtEl>
                                        <p:attrNameLst>
                                          <p:attrName>ppt_x</p:attrName>
                                        </p:attrNameLst>
                                      </p:cBhvr>
                                      <p:tavLst>
                                        <p:tav tm="0">
                                          <p:val>
                                            <p:strVal val="#ppt_x"/>
                                          </p:val>
                                        </p:tav>
                                        <p:tav tm="100000">
                                          <p:val>
                                            <p:strVal val="#ppt_x"/>
                                          </p:val>
                                        </p:tav>
                                      </p:tavLst>
                                    </p:anim>
                                    <p:anim calcmode="lin" valueType="num">
                                      <p:cBhvr>
                                        <p:cTn id="65" dur="1000" fill="hold"/>
                                        <p:tgtEl>
                                          <p:spTgt spid="7">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2" name="TextBox 31"/>
          <p:cNvSpPr txBox="1"/>
          <p:nvPr/>
        </p:nvSpPr>
        <p:spPr>
          <a:xfrm>
            <a:off x="594360" y="320040"/>
            <a:ext cx="9498546" cy="584775"/>
          </a:xfrm>
          <a:prstGeom prst="rect">
            <a:avLst/>
          </a:prstGeom>
          <a:noFill/>
        </p:spPr>
        <p:txBody>
          <a:bodyPr wrap="square" anchor="t">
            <a:spAutoFit/>
          </a:bodyPr>
          <a:lstStyle/>
          <a:p>
            <a:pPr algn="ctr">
              <a:defRPr sz="2100" b="1">
                <a:solidFill>
                  <a:srgbClr val="141414"/>
                </a:solidFill>
              </a:defRPr>
            </a:pPr>
            <a:r>
              <a:rPr sz="3200" dirty="0">
                <a:latin typeface="Arial" panose="020B0604020202020204" pitchFamily="34" charset="0"/>
                <a:cs typeface="Arial" panose="020B0604020202020204" pitchFamily="34" charset="0"/>
              </a:rPr>
              <a:t>RESULTS – DATASET &amp; KPI OVERVIEW</a:t>
            </a:r>
          </a:p>
        </p:txBody>
      </p:sp>
      <p:sp>
        <p:nvSpPr>
          <p:cNvPr id="33" name="Rectangle 32"/>
          <p:cNvSpPr/>
          <p:nvPr/>
        </p:nvSpPr>
        <p:spPr>
          <a:xfrm>
            <a:off x="594360" y="1005840"/>
            <a:ext cx="1463040" cy="804672"/>
          </a:xfrm>
          <a:prstGeom prst="rect">
            <a:avLst/>
          </a:prstGeom>
          <a:solidFill>
            <a:srgbClr val="F5F8F9"/>
          </a:solidFill>
          <a:ln>
            <a:solidFill>
              <a:srgbClr val="BEC8CD"/>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600" b="1">
                <a:solidFill>
                  <a:srgbClr val="191919"/>
                </a:solidFill>
              </a:defRPr>
            </a:pPr>
            <a:r>
              <a:t>4,000</a:t>
            </a:r>
          </a:p>
          <a:p>
            <a:pPr algn="ctr">
              <a:defRPr sz="1000">
                <a:solidFill>
                  <a:srgbClr val="464646"/>
                </a:solidFill>
              </a:defRPr>
            </a:pPr>
            <a:r>
              <a:t>Farm records</a:t>
            </a:r>
          </a:p>
        </p:txBody>
      </p:sp>
      <p:sp>
        <p:nvSpPr>
          <p:cNvPr id="34" name="Rectangle 33"/>
          <p:cNvSpPr/>
          <p:nvPr/>
        </p:nvSpPr>
        <p:spPr>
          <a:xfrm>
            <a:off x="2331720" y="1005840"/>
            <a:ext cx="1463040" cy="804672"/>
          </a:xfrm>
          <a:prstGeom prst="rect">
            <a:avLst/>
          </a:prstGeom>
          <a:solidFill>
            <a:srgbClr val="F5F8F9"/>
          </a:solidFill>
          <a:ln>
            <a:solidFill>
              <a:srgbClr val="BEC8CD"/>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600" b="1">
                <a:solidFill>
                  <a:srgbClr val="191919"/>
                </a:solidFill>
              </a:defRPr>
            </a:pPr>
            <a:r>
              <a:t>28</a:t>
            </a:r>
          </a:p>
          <a:p>
            <a:pPr algn="ctr">
              <a:defRPr sz="1000">
                <a:solidFill>
                  <a:srgbClr val="464646"/>
                </a:solidFill>
              </a:defRPr>
            </a:pPr>
            <a:r>
              <a:t>Variables</a:t>
            </a:r>
          </a:p>
        </p:txBody>
      </p:sp>
      <p:sp>
        <p:nvSpPr>
          <p:cNvPr id="35" name="Rectangle 34"/>
          <p:cNvSpPr/>
          <p:nvPr/>
        </p:nvSpPr>
        <p:spPr>
          <a:xfrm>
            <a:off x="4069080" y="1005840"/>
            <a:ext cx="1463040" cy="804672"/>
          </a:xfrm>
          <a:prstGeom prst="rect">
            <a:avLst/>
          </a:prstGeom>
          <a:solidFill>
            <a:srgbClr val="F5F8F9"/>
          </a:solidFill>
          <a:ln>
            <a:solidFill>
              <a:srgbClr val="BEC8CD"/>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600" b="1">
                <a:solidFill>
                  <a:srgbClr val="191919"/>
                </a:solidFill>
              </a:defRPr>
            </a:pPr>
            <a:r>
              <a:t>3</a:t>
            </a:r>
          </a:p>
          <a:p>
            <a:pPr algn="ctr">
              <a:defRPr sz="1000">
                <a:solidFill>
                  <a:srgbClr val="464646"/>
                </a:solidFill>
              </a:defRPr>
            </a:pPr>
            <a:r>
              <a:t>Seasons</a:t>
            </a:r>
          </a:p>
        </p:txBody>
      </p:sp>
      <p:sp>
        <p:nvSpPr>
          <p:cNvPr id="36" name="Rectangle 35"/>
          <p:cNvSpPr/>
          <p:nvPr/>
        </p:nvSpPr>
        <p:spPr>
          <a:xfrm>
            <a:off x="5806440" y="1005840"/>
            <a:ext cx="1463040" cy="804672"/>
          </a:xfrm>
          <a:prstGeom prst="rect">
            <a:avLst/>
          </a:prstGeom>
          <a:solidFill>
            <a:srgbClr val="F5F8F9"/>
          </a:solidFill>
          <a:ln>
            <a:solidFill>
              <a:srgbClr val="BEC8CD"/>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600" b="1">
                <a:solidFill>
                  <a:srgbClr val="191919"/>
                </a:solidFill>
              </a:defRPr>
            </a:pPr>
            <a:r>
              <a:t>8</a:t>
            </a:r>
          </a:p>
          <a:p>
            <a:pPr algn="ctr">
              <a:defRPr sz="1000">
                <a:solidFill>
                  <a:srgbClr val="464646"/>
                </a:solidFill>
              </a:defRPr>
            </a:pPr>
            <a:r>
              <a:t>States</a:t>
            </a:r>
          </a:p>
        </p:txBody>
      </p:sp>
      <p:sp>
        <p:nvSpPr>
          <p:cNvPr id="37" name="Rectangle 36"/>
          <p:cNvSpPr/>
          <p:nvPr/>
        </p:nvSpPr>
        <p:spPr>
          <a:xfrm>
            <a:off x="7543800" y="1005840"/>
            <a:ext cx="1463040" cy="804672"/>
          </a:xfrm>
          <a:prstGeom prst="rect">
            <a:avLst/>
          </a:prstGeom>
          <a:solidFill>
            <a:srgbClr val="F5F8F9"/>
          </a:solidFill>
          <a:ln>
            <a:solidFill>
              <a:srgbClr val="BEC8CD"/>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600" b="1">
                <a:solidFill>
                  <a:srgbClr val="191919"/>
                </a:solidFill>
              </a:defRPr>
            </a:pPr>
            <a:r>
              <a:t>8</a:t>
            </a:r>
          </a:p>
          <a:p>
            <a:pPr algn="ctr">
              <a:defRPr sz="1000">
                <a:solidFill>
                  <a:srgbClr val="464646"/>
                </a:solidFill>
              </a:defRPr>
            </a:pPr>
            <a:r>
              <a:t>Crops</a:t>
            </a:r>
          </a:p>
        </p:txBody>
      </p:sp>
      <p:sp>
        <p:nvSpPr>
          <p:cNvPr id="38" name="Rectangle 37"/>
          <p:cNvSpPr/>
          <p:nvPr/>
        </p:nvSpPr>
        <p:spPr>
          <a:xfrm>
            <a:off x="9281160" y="1005840"/>
            <a:ext cx="1463040" cy="804672"/>
          </a:xfrm>
          <a:prstGeom prst="rect">
            <a:avLst/>
          </a:prstGeom>
          <a:solidFill>
            <a:srgbClr val="F5F8F9"/>
          </a:solidFill>
          <a:ln>
            <a:solidFill>
              <a:srgbClr val="BEC8CD"/>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600" b="1">
                <a:solidFill>
                  <a:srgbClr val="191919"/>
                </a:solidFill>
              </a:defRPr>
            </a:pPr>
            <a:r>
              <a:t>4</a:t>
            </a:r>
          </a:p>
          <a:p>
            <a:pPr algn="ctr">
              <a:defRPr sz="1000">
                <a:solidFill>
                  <a:srgbClr val="464646"/>
                </a:solidFill>
              </a:defRPr>
            </a:pPr>
            <a:r>
              <a:t>Irrigation methods</a:t>
            </a:r>
          </a:p>
        </p:txBody>
      </p:sp>
      <p:sp>
        <p:nvSpPr>
          <p:cNvPr id="39" name="TextBox 38"/>
          <p:cNvSpPr txBox="1"/>
          <p:nvPr/>
        </p:nvSpPr>
        <p:spPr>
          <a:xfrm>
            <a:off x="685800" y="1874519"/>
            <a:ext cx="3657600" cy="320040"/>
          </a:xfrm>
          <a:prstGeom prst="rect">
            <a:avLst/>
          </a:prstGeom>
          <a:noFill/>
        </p:spPr>
        <p:txBody>
          <a:bodyPr wrap="square" anchor="t">
            <a:spAutoFit/>
          </a:bodyPr>
          <a:lstStyle/>
          <a:p>
            <a:pPr algn="l">
              <a:defRPr sz="1400" b="1">
                <a:solidFill>
                  <a:srgbClr val="141414"/>
                </a:solidFill>
              </a:defRPr>
            </a:pPr>
            <a:r>
              <a:t>Season distribution</a:t>
            </a:r>
          </a:p>
        </p:txBody>
      </p:sp>
      <p:sp>
        <p:nvSpPr>
          <p:cNvPr id="40" name="TextBox 39"/>
          <p:cNvSpPr txBox="1"/>
          <p:nvPr/>
        </p:nvSpPr>
        <p:spPr>
          <a:xfrm>
            <a:off x="5486400" y="1874519"/>
            <a:ext cx="1828800" cy="320040"/>
          </a:xfrm>
          <a:prstGeom prst="rect">
            <a:avLst/>
          </a:prstGeom>
          <a:noFill/>
        </p:spPr>
        <p:txBody>
          <a:bodyPr wrap="square" anchor="t">
            <a:spAutoFit/>
          </a:bodyPr>
          <a:lstStyle/>
          <a:p>
            <a:pPr algn="l">
              <a:defRPr sz="1400" b="1">
                <a:solidFill>
                  <a:srgbClr val="141414"/>
                </a:solidFill>
              </a:defRPr>
            </a:pPr>
            <a:r>
              <a:t>Data quality</a:t>
            </a:r>
          </a:p>
        </p:txBody>
      </p:sp>
      <p:sp>
        <p:nvSpPr>
          <p:cNvPr id="42" name="TextBox 41"/>
          <p:cNvSpPr txBox="1"/>
          <p:nvPr/>
        </p:nvSpPr>
        <p:spPr>
          <a:xfrm>
            <a:off x="5806440" y="2240280"/>
            <a:ext cx="4829930" cy="1438855"/>
          </a:xfrm>
          <a:prstGeom prst="rect">
            <a:avLst/>
          </a:prstGeom>
          <a:noFill/>
        </p:spPr>
        <p:txBody>
          <a:bodyPr wrap="square">
            <a:spAutoFit/>
          </a:bodyPr>
          <a:lstStyle/>
          <a:p>
            <a:pPr>
              <a:spcAft>
                <a:spcPts val="700"/>
              </a:spcAft>
              <a:defRPr sz="1400">
                <a:solidFill>
                  <a:srgbClr val="141414"/>
                </a:solidFill>
              </a:defRPr>
            </a:pPr>
            <a:r>
              <a:rPr dirty="0"/>
              <a:t>Duplicate records: 0</a:t>
            </a:r>
          </a:p>
          <a:p>
            <a:pPr>
              <a:spcAft>
                <a:spcPts val="700"/>
              </a:spcAft>
              <a:defRPr sz="1400">
                <a:solidFill>
                  <a:srgbClr val="141414"/>
                </a:solidFill>
              </a:defRPr>
            </a:pPr>
            <a:r>
              <a:rPr dirty="0"/>
              <a:t>Missing values handled using median imputation for rainfall, soil moisture and yield</a:t>
            </a:r>
          </a:p>
          <a:p>
            <a:pPr>
              <a:spcAft>
                <a:spcPts val="700"/>
              </a:spcAft>
              <a:defRPr sz="1400">
                <a:solidFill>
                  <a:srgbClr val="141414"/>
                </a:solidFill>
              </a:defRPr>
            </a:pPr>
            <a:r>
              <a:rPr dirty="0"/>
              <a:t>Outliers identified using the IQR method</a:t>
            </a:r>
          </a:p>
          <a:p>
            <a:pPr>
              <a:spcAft>
                <a:spcPts val="700"/>
              </a:spcAft>
              <a:defRPr sz="1400">
                <a:solidFill>
                  <a:srgbClr val="141414"/>
                </a:solidFill>
              </a:defRPr>
            </a:pPr>
            <a:r>
              <a:rPr dirty="0"/>
              <a:t>Outliers retained unless shown to be data errors</a:t>
            </a:r>
          </a:p>
        </p:txBody>
      </p:sp>
      <p:pic>
        <p:nvPicPr>
          <p:cNvPr id="3" name="Picture 2">
            <a:extLst>
              <a:ext uri="{FF2B5EF4-FFF2-40B4-BE49-F238E27FC236}">
                <a16:creationId xmlns:a16="http://schemas.microsoft.com/office/drawing/2014/main" id="{D5D43C8A-E8F2-E82F-EBCA-7D83174EBB29}"/>
              </a:ext>
            </a:extLst>
          </p:cNvPr>
          <p:cNvPicPr>
            <a:picLocks noChangeAspect="1"/>
          </p:cNvPicPr>
          <p:nvPr/>
        </p:nvPicPr>
        <p:blipFill>
          <a:blip r:embed="rId3"/>
          <a:stretch>
            <a:fillRect/>
          </a:stretch>
        </p:blipFill>
        <p:spPr>
          <a:xfrm>
            <a:off x="500333" y="2441274"/>
            <a:ext cx="4986068" cy="3646599"/>
          </a:xfrm>
          <a:prstGeom prst="rect">
            <a:avLst/>
          </a:prstGeom>
        </p:spPr>
      </p:pic>
      <p:pic>
        <p:nvPicPr>
          <p:cNvPr id="6" name="Picture 5">
            <a:extLst>
              <a:ext uri="{FF2B5EF4-FFF2-40B4-BE49-F238E27FC236}">
                <a16:creationId xmlns:a16="http://schemas.microsoft.com/office/drawing/2014/main" id="{CAEDE02C-7981-36D4-C6B4-4AB176AD8D73}"/>
              </a:ext>
            </a:extLst>
          </p:cNvPr>
          <p:cNvPicPr>
            <a:picLocks noChangeAspect="1"/>
          </p:cNvPicPr>
          <p:nvPr/>
        </p:nvPicPr>
        <p:blipFill>
          <a:blip r:embed="rId4"/>
          <a:stretch>
            <a:fillRect/>
          </a:stretch>
        </p:blipFill>
        <p:spPr>
          <a:xfrm>
            <a:off x="5806440" y="2258565"/>
            <a:ext cx="4684144" cy="4043319"/>
          </a:xfrm>
          <a:prstGeom prst="rect">
            <a:avLst/>
          </a:prstGeom>
        </p:spPr>
      </p:pic>
    </p:spTree>
    <p:extLst>
      <p:ext uri="{BB962C8B-B14F-4D97-AF65-F5344CB8AC3E}">
        <p14:creationId xmlns:p14="http://schemas.microsoft.com/office/powerpoint/2010/main" val="10862254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4" name="TextBox 33"/>
          <p:cNvSpPr txBox="1"/>
          <p:nvPr/>
        </p:nvSpPr>
        <p:spPr>
          <a:xfrm>
            <a:off x="594360" y="320040"/>
            <a:ext cx="9784080" cy="584775"/>
          </a:xfrm>
          <a:prstGeom prst="rect">
            <a:avLst/>
          </a:prstGeom>
          <a:noFill/>
        </p:spPr>
        <p:txBody>
          <a:bodyPr wrap="square" anchor="t">
            <a:spAutoFit/>
          </a:bodyPr>
          <a:lstStyle/>
          <a:p>
            <a:pPr algn="ctr">
              <a:defRPr sz="2100" b="1">
                <a:solidFill>
                  <a:srgbClr val="141414"/>
                </a:solidFill>
              </a:defRPr>
            </a:pPr>
            <a:r>
              <a:rPr sz="3200" dirty="0">
                <a:latin typeface="Arial" panose="020B0604020202020204" pitchFamily="34" charset="0"/>
                <a:cs typeface="Arial" panose="020B0604020202020204" pitchFamily="34" charset="0"/>
              </a:rPr>
              <a:t>RESULTS – SEASONAL PERFORMANCE</a:t>
            </a:r>
          </a:p>
        </p:txBody>
      </p:sp>
      <p:sp>
        <p:nvSpPr>
          <p:cNvPr id="37" name="TextBox 36"/>
          <p:cNvSpPr txBox="1"/>
          <p:nvPr/>
        </p:nvSpPr>
        <p:spPr>
          <a:xfrm>
            <a:off x="777240" y="4343400"/>
            <a:ext cx="9601200" cy="954107"/>
          </a:xfrm>
          <a:prstGeom prst="rect">
            <a:avLst/>
          </a:prstGeom>
          <a:noFill/>
        </p:spPr>
        <p:txBody>
          <a:bodyPr wrap="square" anchor="t">
            <a:spAutoFit/>
          </a:bodyPr>
          <a:lstStyle/>
          <a:p>
            <a:pPr algn="l">
              <a:defRPr sz="1400" b="0">
                <a:solidFill>
                  <a:srgbClr val="141414"/>
                </a:solidFill>
              </a:defRPr>
            </a:pPr>
            <a:r>
              <a:rPr dirty="0">
                <a:latin typeface="Arial" panose="020B0604020202020204" pitchFamily="34" charset="0"/>
                <a:cs typeface="Arial" panose="020B0604020202020204" pitchFamily="34" charset="0"/>
              </a:rPr>
              <a:t>Kharif records the highest observed average yield (5.63 t/ha) and highest average profit (INR 178,915).</a:t>
            </a:r>
            <a:endParaRPr lang="en-IN" dirty="0">
              <a:latin typeface="Arial" panose="020B0604020202020204" pitchFamily="34" charset="0"/>
              <a:cs typeface="Arial" panose="020B0604020202020204" pitchFamily="34" charset="0"/>
            </a:endParaRPr>
          </a:p>
          <a:p>
            <a:pPr algn="l">
              <a:defRPr sz="1400" b="0">
                <a:solidFill>
                  <a:srgbClr val="141414"/>
                </a:solidFill>
              </a:defRPr>
            </a:pPr>
            <a:endParaRPr lang="en-IN" dirty="0">
              <a:latin typeface="Arial" panose="020B0604020202020204" pitchFamily="34" charset="0"/>
              <a:cs typeface="Arial" panose="020B0604020202020204" pitchFamily="34" charset="0"/>
            </a:endParaRPr>
          </a:p>
          <a:p>
            <a:pPr algn="l">
              <a:defRPr sz="1400" b="0">
                <a:solidFill>
                  <a:srgbClr val="141414"/>
                </a:solidFill>
              </a:defRPr>
            </a:pPr>
            <a:r>
              <a:rPr dirty="0">
                <a:latin typeface="Arial" panose="020B0604020202020204" pitchFamily="34" charset="0"/>
                <a:cs typeface="Arial" panose="020B0604020202020204" pitchFamily="34" charset="0"/>
              </a:rPr>
              <a:t> However, the one-way ANOVA result is F = 1.544, p = 0.214, so the mean-yield difference across seasons is not statistically significant at the 5% level.</a:t>
            </a:r>
          </a:p>
        </p:txBody>
      </p:sp>
      <p:pic>
        <p:nvPicPr>
          <p:cNvPr id="3" name="Picture 2">
            <a:extLst>
              <a:ext uri="{FF2B5EF4-FFF2-40B4-BE49-F238E27FC236}">
                <a16:creationId xmlns:a16="http://schemas.microsoft.com/office/drawing/2014/main" id="{9E54B355-551C-2DF2-FAEB-A42CA47AAFB5}"/>
              </a:ext>
            </a:extLst>
          </p:cNvPr>
          <p:cNvPicPr>
            <a:picLocks noChangeAspect="1"/>
          </p:cNvPicPr>
          <p:nvPr/>
        </p:nvPicPr>
        <p:blipFill>
          <a:blip r:embed="rId3"/>
          <a:stretch>
            <a:fillRect/>
          </a:stretch>
        </p:blipFill>
        <p:spPr>
          <a:xfrm>
            <a:off x="449832" y="1270582"/>
            <a:ext cx="4208432" cy="2579476"/>
          </a:xfrm>
          <a:prstGeom prst="rect">
            <a:avLst/>
          </a:prstGeom>
        </p:spPr>
      </p:pic>
      <p:pic>
        <p:nvPicPr>
          <p:cNvPr id="6" name="Picture 5">
            <a:extLst>
              <a:ext uri="{FF2B5EF4-FFF2-40B4-BE49-F238E27FC236}">
                <a16:creationId xmlns:a16="http://schemas.microsoft.com/office/drawing/2014/main" id="{BD88118B-29AE-D214-B991-BC524734316A}"/>
              </a:ext>
            </a:extLst>
          </p:cNvPr>
          <p:cNvPicPr>
            <a:picLocks noChangeAspect="1"/>
          </p:cNvPicPr>
          <p:nvPr/>
        </p:nvPicPr>
        <p:blipFill>
          <a:blip r:embed="rId4"/>
          <a:stretch>
            <a:fillRect/>
          </a:stretch>
        </p:blipFill>
        <p:spPr>
          <a:xfrm>
            <a:off x="5727940" y="1431984"/>
            <a:ext cx="4208432" cy="2165231"/>
          </a:xfrm>
          <a:prstGeom prst="rect">
            <a:avLst/>
          </a:prstGeom>
        </p:spPr>
      </p:pic>
    </p:spTree>
    <p:extLst>
      <p:ext uri="{BB962C8B-B14F-4D97-AF65-F5344CB8AC3E}">
        <p14:creationId xmlns:p14="http://schemas.microsoft.com/office/powerpoint/2010/main" val="38496278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4" name="TextBox 33"/>
          <p:cNvSpPr txBox="1"/>
          <p:nvPr/>
        </p:nvSpPr>
        <p:spPr>
          <a:xfrm>
            <a:off x="2345522" y="301746"/>
            <a:ext cx="7772400" cy="1077218"/>
          </a:xfrm>
          <a:prstGeom prst="rect">
            <a:avLst/>
          </a:prstGeom>
          <a:noFill/>
        </p:spPr>
        <p:txBody>
          <a:bodyPr wrap="square" anchor="t">
            <a:spAutoFit/>
          </a:bodyPr>
          <a:lstStyle/>
          <a:p>
            <a:pPr algn="l">
              <a:defRPr sz="2100" b="1">
                <a:solidFill>
                  <a:srgbClr val="141414"/>
                </a:solidFill>
              </a:defRPr>
            </a:pPr>
            <a:r>
              <a:rPr sz="3200" dirty="0">
                <a:latin typeface="Arial" panose="020B0604020202020204" pitchFamily="34" charset="0"/>
                <a:cs typeface="Arial" panose="020B0604020202020204" pitchFamily="34" charset="0"/>
              </a:rPr>
              <a:t>RESULTS – ENVIRONMENT &amp; CROP ANALYSIS</a:t>
            </a:r>
          </a:p>
        </p:txBody>
      </p:sp>
      <p:sp>
        <p:nvSpPr>
          <p:cNvPr id="37" name="TextBox 36"/>
          <p:cNvSpPr txBox="1"/>
          <p:nvPr/>
        </p:nvSpPr>
        <p:spPr>
          <a:xfrm>
            <a:off x="685800" y="4572000"/>
            <a:ext cx="9784080" cy="523220"/>
          </a:xfrm>
          <a:prstGeom prst="rect">
            <a:avLst/>
          </a:prstGeom>
          <a:noFill/>
        </p:spPr>
        <p:txBody>
          <a:bodyPr wrap="square" anchor="t">
            <a:spAutoFit/>
          </a:bodyPr>
          <a:lstStyle/>
          <a:p>
            <a:pPr algn="l">
              <a:defRPr sz="1300" b="0">
                <a:solidFill>
                  <a:srgbClr val="141414"/>
                </a:solidFill>
              </a:defRPr>
            </a:pPr>
            <a:r>
              <a:rPr sz="1400" dirty="0">
                <a:latin typeface="Arial" panose="020B0604020202020204" pitchFamily="34" charset="0"/>
                <a:cs typeface="Arial" panose="020B0604020202020204" pitchFamily="34" charset="0"/>
              </a:rPr>
              <a:t>Kharif has the highest average rainfall (849 mm) and soil moisture (31.2%), while Zaid has the highest average temperature (31.0°C). Crop performance varies by season; Sugarcane has the highest overall average yield (46.94 t/ha).</a:t>
            </a:r>
          </a:p>
        </p:txBody>
      </p:sp>
      <p:pic>
        <p:nvPicPr>
          <p:cNvPr id="3" name="Picture 2">
            <a:extLst>
              <a:ext uri="{FF2B5EF4-FFF2-40B4-BE49-F238E27FC236}">
                <a16:creationId xmlns:a16="http://schemas.microsoft.com/office/drawing/2014/main" id="{C8B75399-DAA0-3D16-01E7-B074B044D290}"/>
              </a:ext>
            </a:extLst>
          </p:cNvPr>
          <p:cNvPicPr>
            <a:picLocks noChangeAspect="1"/>
          </p:cNvPicPr>
          <p:nvPr/>
        </p:nvPicPr>
        <p:blipFill>
          <a:blip r:embed="rId3"/>
          <a:stretch>
            <a:fillRect/>
          </a:stretch>
        </p:blipFill>
        <p:spPr>
          <a:xfrm>
            <a:off x="594360" y="931474"/>
            <a:ext cx="4260193" cy="3295469"/>
          </a:xfrm>
          <a:prstGeom prst="rect">
            <a:avLst/>
          </a:prstGeom>
        </p:spPr>
      </p:pic>
      <p:pic>
        <p:nvPicPr>
          <p:cNvPr id="6" name="Picture 5">
            <a:extLst>
              <a:ext uri="{FF2B5EF4-FFF2-40B4-BE49-F238E27FC236}">
                <a16:creationId xmlns:a16="http://schemas.microsoft.com/office/drawing/2014/main" id="{F943ECAC-6E34-FD5D-A782-7E1FE2358B70}"/>
              </a:ext>
            </a:extLst>
          </p:cNvPr>
          <p:cNvPicPr>
            <a:picLocks noChangeAspect="1"/>
          </p:cNvPicPr>
          <p:nvPr/>
        </p:nvPicPr>
        <p:blipFill>
          <a:blip r:embed="rId4"/>
          <a:stretch>
            <a:fillRect/>
          </a:stretch>
        </p:blipFill>
        <p:spPr>
          <a:xfrm>
            <a:off x="5046454" y="1026543"/>
            <a:ext cx="5529532" cy="2872597"/>
          </a:xfrm>
          <a:prstGeom prst="rect">
            <a:avLst/>
          </a:prstGeom>
        </p:spPr>
      </p:pic>
    </p:spTree>
    <p:extLst>
      <p:ext uri="{BB962C8B-B14F-4D97-AF65-F5344CB8AC3E}">
        <p14:creationId xmlns:p14="http://schemas.microsoft.com/office/powerpoint/2010/main" val="16989017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32" name="Picture 31" descr="water_by_season.png"/>
          <p:cNvPicPr>
            <a:picLocks noChangeAspect="1"/>
          </p:cNvPicPr>
          <p:nvPr/>
        </p:nvPicPr>
        <p:blipFill>
          <a:blip r:embed="rId3"/>
          <a:stretch>
            <a:fillRect/>
          </a:stretch>
        </p:blipFill>
        <p:spPr>
          <a:xfrm>
            <a:off x="502920" y="1005840"/>
            <a:ext cx="3657600" cy="2083865"/>
          </a:xfrm>
          <a:prstGeom prst="rect">
            <a:avLst/>
          </a:prstGeom>
        </p:spPr>
      </p:pic>
      <p:pic>
        <p:nvPicPr>
          <p:cNvPr id="33" name="Picture 32" descr="irrigation_efficiency.png"/>
          <p:cNvPicPr>
            <a:picLocks noChangeAspect="1"/>
          </p:cNvPicPr>
          <p:nvPr/>
        </p:nvPicPr>
        <p:blipFill>
          <a:blip r:embed="rId4"/>
          <a:stretch>
            <a:fillRect/>
          </a:stretch>
        </p:blipFill>
        <p:spPr>
          <a:xfrm>
            <a:off x="4160520" y="1005840"/>
            <a:ext cx="3657600" cy="1982999"/>
          </a:xfrm>
          <a:prstGeom prst="rect">
            <a:avLst/>
          </a:prstGeom>
        </p:spPr>
      </p:pic>
      <p:pic>
        <p:nvPicPr>
          <p:cNvPr id="34" name="Picture 33" descr="irrigation_yield_boxplot.png"/>
          <p:cNvPicPr>
            <a:picLocks noChangeAspect="1"/>
          </p:cNvPicPr>
          <p:nvPr/>
        </p:nvPicPr>
        <p:blipFill>
          <a:blip r:embed="rId5"/>
          <a:stretch>
            <a:fillRect/>
          </a:stretch>
        </p:blipFill>
        <p:spPr>
          <a:xfrm>
            <a:off x="7818120" y="1005840"/>
            <a:ext cx="3108960" cy="1709412"/>
          </a:xfrm>
          <a:prstGeom prst="rect">
            <a:avLst/>
          </a:prstGeom>
        </p:spPr>
      </p:pic>
      <p:sp>
        <p:nvSpPr>
          <p:cNvPr id="35" name="TextBox 34"/>
          <p:cNvSpPr txBox="1"/>
          <p:nvPr/>
        </p:nvSpPr>
        <p:spPr>
          <a:xfrm>
            <a:off x="1714500" y="298886"/>
            <a:ext cx="7315200" cy="584775"/>
          </a:xfrm>
          <a:prstGeom prst="rect">
            <a:avLst/>
          </a:prstGeom>
          <a:noFill/>
        </p:spPr>
        <p:txBody>
          <a:bodyPr wrap="square" anchor="t">
            <a:spAutoFit/>
          </a:bodyPr>
          <a:lstStyle/>
          <a:p>
            <a:pPr algn="ctr">
              <a:defRPr sz="2100" b="1">
                <a:solidFill>
                  <a:srgbClr val="141414"/>
                </a:solidFill>
              </a:defRPr>
            </a:pPr>
            <a:r>
              <a:rPr sz="3200" dirty="0"/>
              <a:t>RESULTS – RESOURCES &amp; </a:t>
            </a:r>
            <a:r>
              <a:rPr sz="3200" dirty="0">
                <a:latin typeface="Arial" panose="020B0604020202020204" pitchFamily="34" charset="0"/>
                <a:cs typeface="Arial" panose="020B0604020202020204" pitchFamily="34" charset="0"/>
              </a:rPr>
              <a:t>IRRIGATION</a:t>
            </a:r>
          </a:p>
        </p:txBody>
      </p:sp>
      <p:pic>
        <p:nvPicPr>
          <p:cNvPr id="36" name="Picture 35" descr="image.png"/>
          <p:cNvPicPr>
            <a:picLocks noChangeAspect="1"/>
          </p:cNvPicPr>
          <p:nvPr/>
        </p:nvPicPr>
        <p:blipFill>
          <a:blip r:embed="rId3"/>
          <a:stretch>
            <a:fillRect/>
          </a:stretch>
        </p:blipFill>
        <p:spPr>
          <a:xfrm>
            <a:off x="411480" y="960120"/>
            <a:ext cx="3474720" cy="2468880"/>
          </a:xfrm>
          <a:prstGeom prst="rect">
            <a:avLst/>
          </a:prstGeom>
        </p:spPr>
      </p:pic>
      <p:pic>
        <p:nvPicPr>
          <p:cNvPr id="37" name="Picture 36" descr="image.png"/>
          <p:cNvPicPr>
            <a:picLocks noChangeAspect="1"/>
          </p:cNvPicPr>
          <p:nvPr/>
        </p:nvPicPr>
        <p:blipFill>
          <a:blip r:embed="rId4"/>
          <a:stretch>
            <a:fillRect/>
          </a:stretch>
        </p:blipFill>
        <p:spPr>
          <a:xfrm>
            <a:off x="3886200" y="960120"/>
            <a:ext cx="3474720" cy="2240280"/>
          </a:xfrm>
          <a:prstGeom prst="rect">
            <a:avLst/>
          </a:prstGeom>
        </p:spPr>
      </p:pic>
      <p:pic>
        <p:nvPicPr>
          <p:cNvPr id="38" name="Picture 37" descr="image.png"/>
          <p:cNvPicPr>
            <a:picLocks noChangeAspect="1"/>
          </p:cNvPicPr>
          <p:nvPr/>
        </p:nvPicPr>
        <p:blipFill>
          <a:blip r:embed="rId5"/>
          <a:stretch>
            <a:fillRect/>
          </a:stretch>
        </p:blipFill>
        <p:spPr>
          <a:xfrm>
            <a:off x="7360920" y="960119"/>
            <a:ext cx="3337560" cy="2240279"/>
          </a:xfrm>
          <a:prstGeom prst="rect">
            <a:avLst/>
          </a:prstGeom>
        </p:spPr>
      </p:pic>
      <p:sp>
        <p:nvSpPr>
          <p:cNvPr id="39" name="TextBox 38"/>
          <p:cNvSpPr txBox="1"/>
          <p:nvPr/>
        </p:nvSpPr>
        <p:spPr>
          <a:xfrm>
            <a:off x="640080" y="4389120"/>
            <a:ext cx="9784080" cy="954107"/>
          </a:xfrm>
          <a:prstGeom prst="rect">
            <a:avLst/>
          </a:prstGeom>
          <a:noFill/>
        </p:spPr>
        <p:txBody>
          <a:bodyPr wrap="square" anchor="t">
            <a:spAutoFit/>
          </a:bodyPr>
          <a:lstStyle/>
          <a:p>
            <a:pPr algn="l">
              <a:defRPr sz="1300" b="0">
                <a:solidFill>
                  <a:srgbClr val="141414"/>
                </a:solidFill>
              </a:defRPr>
            </a:pPr>
            <a:r>
              <a:rPr sz="1400" dirty="0">
                <a:latin typeface="Arial" panose="020B0604020202020204" pitchFamily="34" charset="0"/>
                <a:cs typeface="Arial" panose="020B0604020202020204" pitchFamily="34" charset="0"/>
              </a:rPr>
              <a:t>Rainfed has the highest observed water-efficiency value (7.56 t/1000 m³), while Drip has the highest average profit among irrigation methods (INR 219,626).</a:t>
            </a:r>
            <a:endParaRPr lang="en-IN" sz="1400" dirty="0">
              <a:latin typeface="Arial" panose="020B0604020202020204" pitchFamily="34" charset="0"/>
              <a:cs typeface="Arial" panose="020B0604020202020204" pitchFamily="34" charset="0"/>
            </a:endParaRPr>
          </a:p>
          <a:p>
            <a:pPr algn="l">
              <a:defRPr sz="1300" b="0">
                <a:solidFill>
                  <a:srgbClr val="141414"/>
                </a:solidFill>
              </a:defRPr>
            </a:pPr>
            <a:r>
              <a:rPr sz="1400" dirty="0">
                <a:latin typeface="Arial" panose="020B0604020202020204" pitchFamily="34" charset="0"/>
                <a:cs typeface="Arial" panose="020B0604020202020204" pitchFamily="34" charset="0"/>
              </a:rPr>
              <a:t> Water efficiency is derived from yield and water use, so its strong correlation with yield should not be interpreted as an independent causal effect.</a:t>
            </a:r>
          </a:p>
        </p:txBody>
      </p:sp>
    </p:spTree>
    <p:extLst>
      <p:ext uri="{BB962C8B-B14F-4D97-AF65-F5344CB8AC3E}">
        <p14:creationId xmlns:p14="http://schemas.microsoft.com/office/powerpoint/2010/main" val="19039798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4" name="TextBox 33"/>
          <p:cNvSpPr txBox="1"/>
          <p:nvPr/>
        </p:nvSpPr>
        <p:spPr>
          <a:xfrm>
            <a:off x="1051560" y="281008"/>
            <a:ext cx="8229600" cy="1077218"/>
          </a:xfrm>
          <a:prstGeom prst="rect">
            <a:avLst/>
          </a:prstGeom>
          <a:noFill/>
        </p:spPr>
        <p:txBody>
          <a:bodyPr wrap="square" anchor="t">
            <a:spAutoFit/>
          </a:bodyPr>
          <a:lstStyle/>
          <a:p>
            <a:pPr algn="ctr">
              <a:defRPr sz="2100" b="1">
                <a:solidFill>
                  <a:srgbClr val="141414"/>
                </a:solidFill>
              </a:defRPr>
            </a:pPr>
            <a:r>
              <a:rPr sz="3200" dirty="0">
                <a:latin typeface="Arial" panose="020B0604020202020204" pitchFamily="34" charset="0"/>
                <a:cs typeface="Arial" panose="020B0604020202020204" pitchFamily="34" charset="0"/>
              </a:rPr>
              <a:t>RESULTS – ECONOMIC &amp; STATISTICAL ANALYSIS</a:t>
            </a:r>
          </a:p>
        </p:txBody>
      </p:sp>
      <p:sp>
        <p:nvSpPr>
          <p:cNvPr id="37" name="TextBox 36"/>
          <p:cNvSpPr txBox="1"/>
          <p:nvPr/>
        </p:nvSpPr>
        <p:spPr>
          <a:xfrm>
            <a:off x="640080" y="3886200"/>
            <a:ext cx="9875520" cy="1169551"/>
          </a:xfrm>
          <a:prstGeom prst="rect">
            <a:avLst/>
          </a:prstGeom>
          <a:noFill/>
        </p:spPr>
        <p:txBody>
          <a:bodyPr wrap="square" anchor="t">
            <a:spAutoFit/>
          </a:bodyPr>
          <a:lstStyle/>
          <a:p>
            <a:pPr algn="l">
              <a:defRPr sz="1250" b="0">
                <a:solidFill>
                  <a:srgbClr val="141414"/>
                </a:solidFill>
              </a:defRPr>
            </a:pPr>
            <a:r>
              <a:rPr sz="1400" dirty="0">
                <a:latin typeface="Arial" panose="020B0604020202020204" pitchFamily="34" charset="0"/>
                <a:cs typeface="Arial" panose="020B0604020202020204" pitchFamily="34" charset="0"/>
              </a:rPr>
              <a:t>Average profit: Kharif INR 178,915 | Rabi INR 87,689 | Zaid INR -24,805</a:t>
            </a:r>
            <a:br>
              <a:rPr sz="1400" dirty="0">
                <a:latin typeface="Arial" panose="020B0604020202020204" pitchFamily="34" charset="0"/>
                <a:cs typeface="Arial" panose="020B0604020202020204" pitchFamily="34" charset="0"/>
              </a:rPr>
            </a:br>
            <a:r>
              <a:rPr sz="1400" dirty="0">
                <a:latin typeface="Arial" panose="020B0604020202020204" pitchFamily="34" charset="0"/>
                <a:cs typeface="Arial" panose="020B0604020202020204" pitchFamily="34" charset="0"/>
              </a:rPr>
              <a:t>Profitability: 2,034 profitable farms vs 1,966 loss-making farms.</a:t>
            </a:r>
            <a:br>
              <a:rPr sz="1400" dirty="0">
                <a:latin typeface="Arial" panose="020B0604020202020204" pitchFamily="34" charset="0"/>
                <a:cs typeface="Arial" panose="020B0604020202020204" pitchFamily="34" charset="0"/>
              </a:rPr>
            </a:br>
            <a:r>
              <a:rPr sz="1400" dirty="0">
                <a:latin typeface="Arial" panose="020B0604020202020204" pitchFamily="34" charset="0"/>
                <a:cs typeface="Arial" panose="020B0604020202020204" pitchFamily="34" charset="0"/>
              </a:rPr>
              <a:t>ANOVA: F = 1.544, p = 0.214 → no statistically significant difference in mean yield across seasons at α = 0.05.</a:t>
            </a:r>
            <a:br>
              <a:rPr sz="1400" dirty="0">
                <a:latin typeface="Arial" panose="020B0604020202020204" pitchFamily="34" charset="0"/>
                <a:cs typeface="Arial" panose="020B0604020202020204" pitchFamily="34" charset="0"/>
              </a:rPr>
            </a:br>
            <a:r>
              <a:rPr sz="1400" dirty="0">
                <a:latin typeface="Arial" panose="020B0604020202020204" pitchFamily="34" charset="0"/>
                <a:cs typeface="Arial" panose="020B0604020202020204" pitchFamily="34" charset="0"/>
              </a:rPr>
              <a:t>Among the independent variables tested, Water_Used_m3 has the strongest positive correlation with yield (r = 0.386). </a:t>
            </a:r>
            <a:r>
              <a:rPr sz="1400" dirty="0" err="1">
                <a:latin typeface="Arial" panose="020B0604020202020204" pitchFamily="34" charset="0"/>
                <a:cs typeface="Arial" panose="020B0604020202020204" pitchFamily="34" charset="0"/>
              </a:rPr>
              <a:t>Soil_pH</a:t>
            </a:r>
            <a:r>
              <a:rPr sz="1400" dirty="0">
                <a:latin typeface="Arial" panose="020B0604020202020204" pitchFamily="34" charset="0"/>
                <a:cs typeface="Arial" panose="020B0604020202020204" pitchFamily="34" charset="0"/>
              </a:rPr>
              <a:t> has the strongest negative correlation (r = -0.021). Correlation indicates association, not causation.</a:t>
            </a:r>
          </a:p>
        </p:txBody>
      </p:sp>
      <p:pic>
        <p:nvPicPr>
          <p:cNvPr id="3" name="Picture 2">
            <a:extLst>
              <a:ext uri="{FF2B5EF4-FFF2-40B4-BE49-F238E27FC236}">
                <a16:creationId xmlns:a16="http://schemas.microsoft.com/office/drawing/2014/main" id="{DA7D01AC-2105-7781-FCFD-794AC86FD713}"/>
              </a:ext>
            </a:extLst>
          </p:cNvPr>
          <p:cNvPicPr>
            <a:picLocks noChangeAspect="1"/>
          </p:cNvPicPr>
          <p:nvPr/>
        </p:nvPicPr>
        <p:blipFill>
          <a:blip r:embed="rId3"/>
          <a:stretch>
            <a:fillRect/>
          </a:stretch>
        </p:blipFill>
        <p:spPr>
          <a:xfrm>
            <a:off x="888522" y="1216147"/>
            <a:ext cx="4347712" cy="2562223"/>
          </a:xfrm>
          <a:prstGeom prst="rect">
            <a:avLst/>
          </a:prstGeom>
        </p:spPr>
      </p:pic>
      <p:pic>
        <p:nvPicPr>
          <p:cNvPr id="6" name="Picture 5">
            <a:extLst>
              <a:ext uri="{FF2B5EF4-FFF2-40B4-BE49-F238E27FC236}">
                <a16:creationId xmlns:a16="http://schemas.microsoft.com/office/drawing/2014/main" id="{0A014684-7311-D4E8-9805-BFA27E1E2DEB}"/>
              </a:ext>
            </a:extLst>
          </p:cNvPr>
          <p:cNvPicPr>
            <a:picLocks noChangeAspect="1"/>
          </p:cNvPicPr>
          <p:nvPr/>
        </p:nvPicPr>
        <p:blipFill>
          <a:blip r:embed="rId4"/>
          <a:stretch>
            <a:fillRect/>
          </a:stretch>
        </p:blipFill>
        <p:spPr>
          <a:xfrm>
            <a:off x="5614178" y="1293962"/>
            <a:ext cx="4901422" cy="2225615"/>
          </a:xfrm>
          <a:prstGeom prst="rect">
            <a:avLst/>
          </a:prstGeom>
        </p:spPr>
      </p:pic>
    </p:spTree>
    <p:extLst>
      <p:ext uri="{BB962C8B-B14F-4D97-AF65-F5344CB8AC3E}">
        <p14:creationId xmlns:p14="http://schemas.microsoft.com/office/powerpoint/2010/main" val="14215222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4" name="TextBox 23"/>
          <p:cNvSpPr txBox="1"/>
          <p:nvPr/>
        </p:nvSpPr>
        <p:spPr>
          <a:xfrm>
            <a:off x="594360" y="320040"/>
            <a:ext cx="9757338" cy="584775"/>
          </a:xfrm>
          <a:prstGeom prst="rect">
            <a:avLst/>
          </a:prstGeom>
          <a:noFill/>
        </p:spPr>
        <p:txBody>
          <a:bodyPr wrap="square" anchor="t">
            <a:spAutoFit/>
          </a:bodyPr>
          <a:lstStyle/>
          <a:p>
            <a:pPr algn="ctr">
              <a:defRPr sz="2400" b="1"/>
            </a:pPr>
            <a:r>
              <a:rPr sz="3200" dirty="0">
                <a:latin typeface="Arial" panose="020B0604020202020204" pitchFamily="34" charset="0"/>
                <a:cs typeface="Arial" panose="020B0604020202020204" pitchFamily="34" charset="0"/>
              </a:rPr>
              <a:t>Future Scope</a:t>
            </a:r>
          </a:p>
        </p:txBody>
      </p:sp>
      <p:sp>
        <p:nvSpPr>
          <p:cNvPr id="25" name="TextBox 24"/>
          <p:cNvSpPr txBox="1"/>
          <p:nvPr/>
        </p:nvSpPr>
        <p:spPr>
          <a:xfrm>
            <a:off x="777240" y="1234440"/>
            <a:ext cx="10376715" cy="4539704"/>
          </a:xfrm>
          <a:prstGeom prst="rect">
            <a:avLst/>
          </a:prstGeom>
          <a:noFill/>
        </p:spPr>
        <p:txBody>
          <a:bodyPr wrap="square">
            <a:spAutoFit/>
          </a:bodyPr>
          <a:lstStyle/>
          <a:p>
            <a:r>
              <a:rPr lang="en-IN" sz="1700" b="1" dirty="0"/>
              <a:t>Predictive Yield </a:t>
            </a:r>
            <a:r>
              <a:rPr lang="en-IN" sz="1700" b="1" dirty="0" err="1"/>
              <a:t>Modeling</a:t>
            </a:r>
            <a:r>
              <a:rPr lang="en-IN" sz="1700" dirty="0"/>
              <a:t> – Developing machine learning models that leverage environmental and farming variables (such as rainfall, temperature, soil type, and irrigation method) to accurately forecast crop yield before harvest</a:t>
            </a:r>
          </a:p>
          <a:p>
            <a:r>
              <a:rPr lang="en-IN" sz="1700" b="1" dirty="0"/>
              <a:t>Crop Recommendation System</a:t>
            </a:r>
            <a:r>
              <a:rPr lang="en-IN" sz="1700" dirty="0"/>
              <a:t> – Building a recommendation engine that suggests the most suitable crops for a given region and season, based on historical performance, climatic conditions, and resource availability</a:t>
            </a:r>
          </a:p>
          <a:p>
            <a:r>
              <a:rPr lang="en-IN" sz="1700" b="1" dirty="0"/>
              <a:t>Future Yield Forecasting</a:t>
            </a:r>
            <a:r>
              <a:rPr lang="en-IN" sz="1700" dirty="0"/>
              <a:t> – Utilizing multi-year historical data and time-series techniques to project future agricultural output, helping anticipate production trends and potential shortfalls</a:t>
            </a:r>
          </a:p>
          <a:p>
            <a:r>
              <a:rPr lang="en-IN" sz="1700" b="1" dirty="0"/>
              <a:t>Geospatial Analysis</a:t>
            </a:r>
            <a:r>
              <a:rPr lang="en-IN" sz="1700" dirty="0"/>
              <a:t> – Conducting state- and district-level spatial analysis to visualize regional agricultural performance, identify high- and low-productivity zones, and support location-specific planning</a:t>
            </a:r>
          </a:p>
          <a:p>
            <a:r>
              <a:rPr lang="en-IN" sz="1700" b="1" dirty="0"/>
              <a:t>Interactive Dashboard Development</a:t>
            </a:r>
            <a:r>
              <a:rPr lang="en-IN" sz="1700" dirty="0"/>
              <a:t> – Creating dynamic dashboards using Power BI, Tableau, or </a:t>
            </a:r>
            <a:r>
              <a:rPr lang="en-IN" sz="1700" dirty="0" err="1"/>
              <a:t>Streamlit</a:t>
            </a:r>
            <a:r>
              <a:rPr lang="en-IN" sz="1700" dirty="0"/>
              <a:t> to enable real-time exploration of agricultural trends, seasonal comparisons, and key performance metrics by stakeholders</a:t>
            </a:r>
          </a:p>
          <a:p>
            <a:r>
              <a:rPr lang="en-IN" sz="1700" b="1" dirty="0"/>
              <a:t>Real-Time Data Integration</a:t>
            </a:r>
            <a:r>
              <a:rPr lang="en-IN" sz="1700" dirty="0"/>
              <a:t> – Incorporating live weather, soil health, and market-price data feeds to enhance model accuracy and enable timely, data-driven decision-making for farmers and policymakers</a:t>
            </a:r>
          </a:p>
          <a:p>
            <a:pPr>
              <a:spcAft>
                <a:spcPts val="700"/>
              </a:spcAft>
              <a:defRPr sz="1700"/>
            </a:pPr>
            <a:endParaRPr dirty="0"/>
          </a:p>
        </p:txBody>
      </p:sp>
    </p:spTree>
    <p:extLst>
      <p:ext uri="{BB962C8B-B14F-4D97-AF65-F5344CB8AC3E}">
        <p14:creationId xmlns:p14="http://schemas.microsoft.com/office/powerpoint/2010/main" val="7768281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465826"/>
            <a:ext cx="10736790" cy="1026686"/>
          </a:xfrm>
        </p:spPr>
        <p:txBody>
          <a:bodyPr>
            <a:normAutofit/>
          </a:bodyPr>
          <a:lstStyle/>
          <a:p>
            <a:pPr algn="ctr">
              <a:defRPr sz="2400" b="1"/>
            </a:pPr>
            <a:r>
              <a:rPr sz="3600" dirty="0">
                <a:latin typeface="Arial" panose="020B0604020202020204" pitchFamily="34" charset="0"/>
                <a:cs typeface="Arial" panose="020B0604020202020204" pitchFamily="34" charset="0"/>
              </a:rPr>
              <a:t>GitHub Repository</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Box 2">
            <a:extLst>
              <a:ext uri="{FF2B5EF4-FFF2-40B4-BE49-F238E27FC236}">
                <a16:creationId xmlns:a16="http://schemas.microsoft.com/office/drawing/2014/main" id="{5F0B37E4-66B1-8633-7266-68B321742757}"/>
              </a:ext>
            </a:extLst>
          </p:cNvPr>
          <p:cNvSpPr txBox="1"/>
          <p:nvPr/>
        </p:nvSpPr>
        <p:spPr>
          <a:xfrm>
            <a:off x="729256" y="1492512"/>
            <a:ext cx="7232875" cy="523220"/>
          </a:xfrm>
          <a:prstGeom prst="rect">
            <a:avLst/>
          </a:prstGeom>
          <a:noFill/>
        </p:spPr>
        <p:txBody>
          <a:bodyPr wrap="square">
            <a:spAutoFit/>
          </a:bodyPr>
          <a:lstStyle/>
          <a:p>
            <a:pPr>
              <a:defRPr sz="1700" b="0"/>
            </a:pPr>
            <a:r>
              <a:rPr sz="2800" dirty="0"/>
              <a:t>[</a:t>
            </a:r>
            <a:r>
              <a:rPr lang="en-IN" sz="2800" dirty="0" err="1">
                <a:hlinkClick r:id="rId3"/>
              </a:rPr>
              <a:t>Github</a:t>
            </a:r>
            <a:r>
              <a:rPr lang="en-IN" sz="2800" dirty="0">
                <a:hlinkClick r:id="rId3"/>
              </a:rPr>
              <a:t> Link</a:t>
            </a:r>
            <a:r>
              <a:rPr sz="2800" dirty="0"/>
              <a:t>]</a:t>
            </a:r>
          </a:p>
        </p:txBody>
      </p:sp>
      <p:sp>
        <p:nvSpPr>
          <p:cNvPr id="24" name="TextBox 23"/>
          <p:cNvSpPr txBox="1"/>
          <p:nvPr/>
        </p:nvSpPr>
        <p:spPr>
          <a:xfrm>
            <a:off x="739815" y="2377884"/>
            <a:ext cx="6949440" cy="1828800"/>
          </a:xfrm>
          <a:prstGeom prst="rect">
            <a:avLst/>
          </a:prstGeom>
          <a:noFill/>
        </p:spPr>
        <p:txBody>
          <a:bodyPr wrap="square" anchor="t">
            <a:spAutoFit/>
          </a:bodyPr>
          <a:lstStyle/>
          <a:p>
            <a:pPr algn="l">
              <a:defRPr sz="1700" b="0"/>
            </a:pPr>
            <a:r>
              <a:rPr dirty="0"/>
              <a:t>Repository should contain:</a:t>
            </a:r>
            <a:br>
              <a:rPr dirty="0"/>
            </a:br>
            <a:r>
              <a:rPr dirty="0"/>
              <a:t>• Google </a:t>
            </a:r>
            <a:r>
              <a:rPr dirty="0" err="1"/>
              <a:t>Colab</a:t>
            </a:r>
            <a:r>
              <a:rPr dirty="0"/>
              <a:t>/Jupyter notebook</a:t>
            </a:r>
            <a:br>
              <a:rPr dirty="0"/>
            </a:br>
            <a:r>
              <a:rPr dirty="0"/>
              <a:t>• Dataset or dataset reference</a:t>
            </a:r>
            <a:br>
              <a:rPr dirty="0"/>
            </a:br>
            <a:r>
              <a:rPr dirty="0"/>
              <a:t>• Analysis code</a:t>
            </a:r>
            <a:br>
              <a:rPr dirty="0"/>
            </a:br>
            <a:r>
              <a:rPr dirty="0"/>
              <a:t>• Documentation / README</a:t>
            </a:r>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370589"/>
            <a:ext cx="8351388" cy="884658"/>
          </a:xfrm>
        </p:spPr>
        <p:txBody>
          <a:bodyPr>
            <a:noAutofit/>
          </a:bodyPr>
          <a:lstStyle/>
          <a:p>
            <a:pPr algn="ctr">
              <a:defRPr sz="2200" b="1"/>
            </a:pPr>
            <a:r>
              <a:rPr sz="3200" dirty="0">
                <a:latin typeface="Arial" panose="020B0604020202020204" pitchFamily="34" charset="0"/>
                <a:cs typeface="Arial" panose="020B0604020202020204" pitchFamily="34" charset="0"/>
              </a:rPr>
              <a:t>VOIS Course Completion Certificate</a:t>
            </a:r>
            <a:br>
              <a:rPr sz="3200" dirty="0">
                <a:latin typeface="Arial" panose="020B0604020202020204" pitchFamily="34" charset="0"/>
                <a:cs typeface="Arial" panose="020B0604020202020204" pitchFamily="34" charset="0"/>
              </a:rPr>
            </a:br>
            <a:r>
              <a:rPr sz="3200" dirty="0">
                <a:latin typeface="Arial" panose="020B0604020202020204" pitchFamily="34" charset="0"/>
                <a:cs typeface="Arial" panose="020B0604020202020204" pitchFamily="34" charset="0"/>
              </a:rPr>
              <a:t>Course: Data Visualization</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1F6D75AC-AC8E-0BAE-67B8-2439BFDDEBAC}"/>
              </a:ext>
            </a:extLst>
          </p:cNvPr>
          <p:cNvPicPr>
            <a:picLocks noChangeAspect="1"/>
          </p:cNvPicPr>
          <p:nvPr/>
        </p:nvPicPr>
        <p:blipFill>
          <a:blip r:embed="rId3"/>
          <a:stretch>
            <a:fillRect/>
          </a:stretch>
        </p:blipFill>
        <p:spPr>
          <a:xfrm>
            <a:off x="62189" y="1397479"/>
            <a:ext cx="10623439" cy="5267481"/>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3108960" y="3836426"/>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6" name="TextBox 45"/>
          <p:cNvSpPr txBox="1"/>
          <p:nvPr/>
        </p:nvSpPr>
        <p:spPr>
          <a:xfrm>
            <a:off x="3566160" y="594360"/>
            <a:ext cx="3657600" cy="640080"/>
          </a:xfrm>
          <a:prstGeom prst="rect">
            <a:avLst/>
          </a:prstGeom>
          <a:noFill/>
        </p:spPr>
        <p:txBody>
          <a:bodyPr wrap="square" anchor="t">
            <a:spAutoFit/>
          </a:bodyPr>
          <a:lstStyle/>
          <a:p>
            <a:pPr algn="ctr">
              <a:defRPr sz="2800" b="1"/>
            </a:pPr>
            <a:r>
              <a:rPr sz="3600" dirty="0">
                <a:latin typeface="Arial" panose="020B0604020202020204" pitchFamily="34" charset="0"/>
                <a:cs typeface="Arial" panose="020B0604020202020204" pitchFamily="34" charset="0"/>
              </a:rPr>
              <a:t>Thank You</a:t>
            </a:r>
          </a:p>
        </p:txBody>
      </p:sp>
      <p:sp>
        <p:nvSpPr>
          <p:cNvPr id="47" name="TextBox 46"/>
          <p:cNvSpPr txBox="1"/>
          <p:nvPr/>
        </p:nvSpPr>
        <p:spPr>
          <a:xfrm>
            <a:off x="2560320" y="1876943"/>
            <a:ext cx="5760720" cy="502920"/>
          </a:xfrm>
          <a:prstGeom prst="rect">
            <a:avLst/>
          </a:prstGeom>
          <a:noFill/>
        </p:spPr>
        <p:txBody>
          <a:bodyPr wrap="square" anchor="t">
            <a:spAutoFit/>
          </a:bodyPr>
          <a:lstStyle/>
          <a:p>
            <a:pPr algn="ctr">
              <a:defRPr sz="2000" b="1"/>
            </a:pPr>
            <a:r>
              <a:rPr dirty="0"/>
              <a:t>Seasonal Agriculture Performance Analysis</a:t>
            </a:r>
          </a:p>
        </p:txBody>
      </p:sp>
      <p:sp>
        <p:nvSpPr>
          <p:cNvPr id="48" name="TextBox 47"/>
          <p:cNvSpPr txBox="1"/>
          <p:nvPr/>
        </p:nvSpPr>
        <p:spPr>
          <a:xfrm>
            <a:off x="327805" y="2555653"/>
            <a:ext cx="10550104" cy="2862322"/>
          </a:xfrm>
          <a:prstGeom prst="rect">
            <a:avLst/>
          </a:prstGeom>
          <a:noFill/>
        </p:spPr>
        <p:txBody>
          <a:bodyPr wrap="square" anchor="t">
            <a:spAutoFit/>
          </a:bodyPr>
          <a:lstStyle/>
          <a:p>
            <a:pPr algn="ctr">
              <a:defRPr sz="1800" b="0"/>
            </a:pPr>
            <a:r>
              <a:rPr dirty="0"/>
              <a:t>Questions &amp; Discussion</a:t>
            </a:r>
            <a:endParaRPr lang="en-IN" dirty="0"/>
          </a:p>
          <a:p>
            <a:pPr algn="ctr">
              <a:defRPr sz="1800" b="0"/>
            </a:pPr>
            <a:endParaRPr lang="en-IN" dirty="0"/>
          </a:p>
          <a:p>
            <a:r>
              <a:rPr lang="en-IN" dirty="0"/>
              <a:t>Thank you for your time and attention.</a:t>
            </a:r>
          </a:p>
          <a:p>
            <a:r>
              <a:rPr lang="en-IN" dirty="0"/>
              <a:t>This project undertook a comprehensive, end-to-end data analytics study of agricultural activities — integrating seasonal, environmental, operational, and economic dimensions across 4,000 farm</a:t>
            </a:r>
          </a:p>
          <a:p>
            <a:r>
              <a:rPr lang="en-IN" dirty="0"/>
              <a:t>records to build a holistic understanding of what drives agricultural productivity and profitability.</a:t>
            </a:r>
          </a:p>
          <a:p>
            <a:endParaRPr lang="en-IN" dirty="0"/>
          </a:p>
          <a:p>
            <a:r>
              <a:rPr lang="en-IN" dirty="0"/>
              <a:t>I welcome your questions and feedback, particularly on the analytical workflow, key insights, and how these findings could be extended or applied in real-world agricultural decision-making.</a:t>
            </a:r>
          </a:p>
          <a:p>
            <a:pPr algn="ctr">
              <a:defRPr sz="1800" b="0"/>
            </a:pPr>
            <a:endParaRPr dirty="0"/>
          </a:p>
        </p:txBody>
      </p:sp>
      <p:sp>
        <p:nvSpPr>
          <p:cNvPr id="49" name="TextBox 48"/>
          <p:cNvSpPr txBox="1"/>
          <p:nvPr/>
        </p:nvSpPr>
        <p:spPr>
          <a:xfrm>
            <a:off x="1302589" y="5869472"/>
            <a:ext cx="8272731" cy="461665"/>
          </a:xfrm>
          <a:prstGeom prst="rect">
            <a:avLst/>
          </a:prstGeom>
          <a:noFill/>
        </p:spPr>
        <p:txBody>
          <a:bodyPr wrap="square" anchor="t">
            <a:spAutoFit/>
          </a:bodyPr>
          <a:lstStyle/>
          <a:p>
            <a:pPr algn="ctr">
              <a:defRPr sz="1500" b="0"/>
            </a:pPr>
            <a:r>
              <a:rPr sz="2400" dirty="0"/>
              <a:t>[</a:t>
            </a:r>
            <a:r>
              <a:rPr lang="en-IN" sz="2400" dirty="0"/>
              <a:t>Akshat Gupta</a:t>
            </a:r>
            <a:r>
              <a:rPr sz="2400" dirty="0"/>
              <a:t>]  •  [</a:t>
            </a:r>
            <a:r>
              <a:rPr lang="en-IN" sz="2400" dirty="0"/>
              <a:t>JSS Academy of Technical Education</a:t>
            </a:r>
            <a:r>
              <a:rPr sz="2400" dirty="0"/>
              <a:t>]</a:t>
            </a:r>
          </a:p>
        </p:txBody>
      </p:sp>
    </p:spTree>
    <p:extLst>
      <p:ext uri="{BB962C8B-B14F-4D97-AF65-F5344CB8AC3E}">
        <p14:creationId xmlns:p14="http://schemas.microsoft.com/office/powerpoint/2010/main" val="3401748718"/>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2.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Facet</Template>
  <TotalTime>1390</TotalTime>
  <Words>1107</Words>
  <Application>Microsoft Office PowerPoint</Application>
  <PresentationFormat>Widescreen</PresentationFormat>
  <Paragraphs>92</Paragraphs>
  <Slides>14</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Calibri</vt:lpstr>
      <vt:lpstr>Trebuchet MS</vt:lpstr>
      <vt:lpstr>Wingdings</vt:lpstr>
      <vt:lpstr>Wingdings 3</vt:lpstr>
      <vt:lpstr>Facet</vt:lpstr>
      <vt:lpstr>Project Title - Seasonal Agriculture Performance Analysis</vt:lpstr>
      <vt:lpstr>PowerPoint Presentation</vt:lpstr>
      <vt:lpstr>PowerPoint Presentation</vt:lpstr>
      <vt:lpstr>PowerPoint Presentation</vt:lpstr>
      <vt:lpstr>Technology Used</vt:lpstr>
      <vt:lpstr>PowerPoint Presentation</vt:lpstr>
      <vt:lpstr>PowerPoint Presentation</vt:lpstr>
      <vt:lpstr>PowerPoint Presentation</vt:lpstr>
      <vt:lpstr>PowerPoint Presentation</vt:lpstr>
      <vt:lpstr>PowerPoint Presentation</vt:lpstr>
      <vt:lpstr>PowerPoint Presentation</vt:lpstr>
      <vt:lpstr>GitHub Repository</vt:lpstr>
      <vt:lpstr>VOIS Course Completion Certificate Course: Data Visualization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Akshat Gupta</cp:lastModifiedBy>
  <cp:revision>99</cp:revision>
  <dcterms:created xsi:type="dcterms:W3CDTF">2021-07-11T13:13:15Z</dcterms:created>
  <dcterms:modified xsi:type="dcterms:W3CDTF">2026-09-10T11:10:16Z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